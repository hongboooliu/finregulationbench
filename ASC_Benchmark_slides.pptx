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IBM Plex Sans"/>
      <p:regular r:id="rId20"/>
      <p:bold r:id="rId21"/>
      <p:italic r:id="rId22"/>
      <p:boldItalic r:id="rId23"/>
    </p:embeddedFont>
    <p:embeddedFont>
      <p:font typeface="IBM Plex Sans Light"/>
      <p:regular r:id="rId24"/>
      <p:bold r:id="rId25"/>
      <p:italic r:id="rId26"/>
      <p:boldItalic r:id="rId27"/>
    </p:embeddedFont>
    <p:embeddedFont>
      <p:font typeface="Saira Condensed SemiBold"/>
      <p:regular r:id="rId28"/>
      <p:bold r:id="rId29"/>
    </p:embeddedFont>
    <p:embeddedFont>
      <p:font typeface="Saira Condensed Light"/>
      <p:regular r:id="rId30"/>
      <p:bold r:id="rId31"/>
    </p:embeddedFont>
    <p:embeddedFont>
      <p:font typeface="IBM Plex Sans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2F54AA-CAC8-429B-AED7-B94679055F58}">
  <a:tblStyle styleId="{E32F54AA-CAC8-429B-AED7-B94679055F5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IBMPlexSansLight-regular.fntdata"/><Relationship Id="rId23" Type="http://schemas.openxmlformats.org/officeDocument/2006/relationships/font" Target="fonts/IBMPlex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Light-italic.fntdata"/><Relationship Id="rId25" Type="http://schemas.openxmlformats.org/officeDocument/2006/relationships/font" Target="fonts/IBMPlexSansLight-bold.fntdata"/><Relationship Id="rId28" Type="http://schemas.openxmlformats.org/officeDocument/2006/relationships/font" Target="fonts/SairaCondensedSemiBold-regular.fntdata"/><Relationship Id="rId27" Type="http://schemas.openxmlformats.org/officeDocument/2006/relationships/font" Target="fonts/IBMPlexSa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airaCondensed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airaCondensedLight-bold.fntdata"/><Relationship Id="rId30" Type="http://schemas.openxmlformats.org/officeDocument/2006/relationships/font" Target="fonts/SairaCondensedLight-regular.fntdata"/><Relationship Id="rId11" Type="http://schemas.openxmlformats.org/officeDocument/2006/relationships/slide" Target="slides/slide6.xml"/><Relationship Id="rId33" Type="http://schemas.openxmlformats.org/officeDocument/2006/relationships/font" Target="fonts/IBMPlexSansSemiBold-bold.fntdata"/><Relationship Id="rId10" Type="http://schemas.openxmlformats.org/officeDocument/2006/relationships/slide" Target="slides/slide5.xml"/><Relationship Id="rId32" Type="http://schemas.openxmlformats.org/officeDocument/2006/relationships/font" Target="fonts/IBMPlexSansSemiBold-regular.fntdata"/><Relationship Id="rId13" Type="http://schemas.openxmlformats.org/officeDocument/2006/relationships/slide" Target="slides/slide8.xml"/><Relationship Id="rId35" Type="http://schemas.openxmlformats.org/officeDocument/2006/relationships/font" Target="fonts/IBMPlexSansSemiBold-boldItalic.fntdata"/><Relationship Id="rId12" Type="http://schemas.openxmlformats.org/officeDocument/2006/relationships/slide" Target="slides/slide7.xml"/><Relationship Id="rId34" Type="http://schemas.openxmlformats.org/officeDocument/2006/relationships/font" Target="fonts/IBMPlexSansSemi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143" name="Google Shape;14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a:t>
            </a:r>
            <a:endParaRPr sz="1200"/>
          </a:p>
        </p:txBody>
      </p:sp>
      <p:sp>
        <p:nvSpPr>
          <p:cNvPr id="151" name="Google Shape;15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Baseline results are placeholders to be filled after evaluation. A dash does not represent zero. Confirm the exact model identifier for Qwen 8B before reporting results.</a:t>
            </a:r>
            <a:endParaRPr/>
          </a:p>
        </p:txBody>
      </p:sp>
      <p:sp>
        <p:nvSpPr>
          <p:cNvPr id="166" name="Google Shape;16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 The source contains conflicting balance-sheet correct counts: 1,192 on slide 3 and 1,182 on slide 4. This deck uses 1,192, consistent with the reported overall count of 3,858. Percentages are reported values and are not recalculated from these counts.</a:t>
            </a:r>
            <a:endParaRPr/>
          </a:p>
        </p:txBody>
      </p:sp>
      <p:sp>
        <p:nvSpPr>
          <p:cNvPr id="176" name="Google Shape;17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a:t>
            </a:r>
            <a:endParaRPr/>
          </a:p>
        </p:txBody>
      </p:sp>
      <p:sp>
        <p:nvSpPr>
          <p:cNvPr id="191" name="Google Shape;19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Baseline results are placeholders to be filled after evaluation. A dash does not represent zero. Confirm the exact model identifier for Qwen 8B before reporting results.</a:t>
            </a:r>
            <a:endParaRPr/>
          </a:p>
        </p:txBody>
      </p:sp>
      <p:sp>
        <p:nvSpPr>
          <p:cNvPr id="203" name="Google Shape;20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a:t>
            </a:r>
            <a:endParaRPr/>
          </a:p>
        </p:txBody>
      </p:sp>
      <p:sp>
        <p:nvSpPr>
          <p:cNvPr id="213" name="Google Shape;21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a:t>
            </a:r>
            <a:endParaRPr/>
          </a:p>
        </p:txBody>
      </p:sp>
      <p:sp>
        <p:nvSpPr>
          <p:cNvPr id="227" name="Google Shape;22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Baseline results are placeholders to be filled after evaluation. A dash does not represent zero. Confirm the exact model identifier for Qwen 8B before reporting results.</a:t>
            </a:r>
            <a:endParaRPr/>
          </a:p>
        </p:txBody>
      </p:sp>
      <p:sp>
        <p:nvSpPr>
          <p:cNvPr id="239" name="Google Shape;23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 The source reports 400 false negatives among 747 evaluated violations and 78 false positives. Those evaluated counts differ from the dataset composition (805/749), so this slide uses the reported class rates and identifies the historical cohort.</a:t>
            </a:r>
            <a:endParaRPr/>
          </a:p>
        </p:txBody>
      </p:sp>
      <p:sp>
        <p:nvSpPr>
          <p:cNvPr id="249" name="Google Shape;24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Baseline results are placeholders to be filled after evaluation. A dash does not represent zero. Confirm the exact model identifier for Qwen 8B before reporting results.</a:t>
            </a:r>
            <a:endParaRPr/>
          </a:p>
        </p:txBody>
      </p:sp>
      <p:sp>
        <p:nvSpPr>
          <p:cNvPr id="265" name="Google Shape;26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Source: user-provided Latest Benchmark Result (1).pptx. Dataset clarifications use the verified dataset inventory and experiment summaries from this project. Reported benchmark percentages are retained. Experiment checkpoint audit: these metrics correspond to 94 evaluated cases, with two exact matches; 888 is the full dataset size. Rule-level micro and macro metrics exclude NON_VIOLATION.</a:t>
            </a:r>
            <a:endParaRPr/>
          </a:p>
        </p:txBody>
      </p:sp>
      <p:sp>
        <p:nvSpPr>
          <p:cNvPr id="275" name="Google Shape;27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Baseline results are placeholders to be filled after evaluation. A dash does not represent zero. Confirm the exact model identifier for Qwen 8B before reporting results.</a:t>
            </a:r>
            <a:endParaRPr/>
          </a:p>
        </p:txBody>
      </p:sp>
      <p:sp>
        <p:nvSpPr>
          <p:cNvPr id="291" name="Google Shape;29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301" name="Google Shape;301;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id="15" name="Google Shape;15;p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 name="Google Shape;16;p2"/>
          <p:cNvSpPr txBox="1"/>
          <p:nvPr>
            <p:ph type="ctrTitle"/>
          </p:nvPr>
        </p:nvSpPr>
        <p:spPr>
          <a:xfrm>
            <a:off x="4249881" y="2504921"/>
            <a:ext cx="7280733" cy="2061531"/>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5400"/>
              <a:buFont typeface="Saira Condensed Light"/>
              <a:buNone/>
              <a:defRPr b="0" i="0" sz="5400">
                <a:solidFill>
                  <a:schemeClr val="lt1"/>
                </a:solidFill>
                <a:latin typeface="Saira Condensed Light"/>
                <a:ea typeface="Saira Condensed Light"/>
                <a:cs typeface="Saira Condensed Light"/>
                <a:sym typeface="Saira Condensed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4488873" y="4591369"/>
            <a:ext cx="7041742" cy="934635"/>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SzPts val="2000"/>
              <a:buNone/>
              <a:defRPr b="0" i="0" sz="2000">
                <a:solidFill>
                  <a:schemeClr val="lt1"/>
                </a:solidFill>
                <a:latin typeface="IBM Plex Sans"/>
                <a:ea typeface="IBM Plex Sans"/>
                <a:cs typeface="IBM Plex Sans"/>
                <a:sym typeface="IBM Plex Sans"/>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2" type="body"/>
          </p:nvPr>
        </p:nvSpPr>
        <p:spPr>
          <a:xfrm>
            <a:off x="4675910" y="5690085"/>
            <a:ext cx="6854708" cy="42250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SzPts val="1800"/>
              <a:buNone/>
              <a:defRPr b="1" i="0" sz="1800">
                <a:solidFill>
                  <a:schemeClr val="lt1"/>
                </a:solidFill>
                <a:latin typeface="IBM Plex Sans SemiBold"/>
                <a:ea typeface="IBM Plex Sans SemiBold"/>
                <a:cs typeface="IBM Plex Sans SemiBold"/>
                <a:sym typeface="IBM Plex Sans SemiBold"/>
              </a:defRPr>
            </a:lvl1pPr>
            <a:lvl2pPr indent="-228600" lvl="1" marL="914400" algn="r">
              <a:lnSpc>
                <a:spcPct val="90000"/>
              </a:lnSpc>
              <a:spcBef>
                <a:spcPts val="500"/>
              </a:spcBef>
              <a:spcAft>
                <a:spcPts val="0"/>
              </a:spcAft>
              <a:buSzPts val="1800"/>
              <a:buNone/>
              <a:defRPr/>
            </a:lvl2pPr>
            <a:lvl3pPr indent="-228600" lvl="2" marL="1371600" algn="r">
              <a:lnSpc>
                <a:spcPct val="90000"/>
              </a:lnSpc>
              <a:spcBef>
                <a:spcPts val="500"/>
              </a:spcBef>
              <a:spcAft>
                <a:spcPts val="0"/>
              </a:spcAft>
              <a:buSzPts val="1600"/>
              <a:buNone/>
              <a:defRPr/>
            </a:lvl3pPr>
            <a:lvl4pPr indent="-228600" lvl="3" marL="1828800" algn="r">
              <a:lnSpc>
                <a:spcPct val="90000"/>
              </a:lnSpc>
              <a:spcBef>
                <a:spcPts val="500"/>
              </a:spcBef>
              <a:spcAft>
                <a:spcPts val="0"/>
              </a:spcAft>
              <a:buSzPts val="1600"/>
              <a:buNone/>
              <a:defRPr/>
            </a:lvl4pPr>
            <a:lvl5pPr indent="-228600" lvl="4" marL="2286000" algn="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10416209" y="6342033"/>
            <a:ext cx="1114406" cy="246221"/>
          </a:xfrm>
          <a:prstGeom prst="rect">
            <a:avLst/>
          </a:prstGeom>
          <a:solidFill>
            <a:schemeClr val="accent1"/>
          </a:solidFill>
          <a:ln>
            <a:noFill/>
          </a:ln>
        </p:spPr>
        <p:txBody>
          <a:bodyPr anchorCtr="0" anchor="t" bIns="45700" lIns="91425" spcFirstLastPara="1" rIns="91425" wrap="square" tIns="45700">
            <a:sp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lt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3"/>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
          <p:cNvSpPr txBox="1"/>
          <p:nvPr>
            <p:ph type="title"/>
          </p:nvPr>
        </p:nvSpPr>
        <p:spPr>
          <a:xfrm>
            <a:off x="644769" y="365125"/>
            <a:ext cx="10710619"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 type="body"/>
          </p:nvPr>
        </p:nvSpPr>
        <p:spPr>
          <a:xfrm>
            <a:off x="644771" y="1825625"/>
            <a:ext cx="10709031" cy="42351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Font typeface="NTR"/>
              <a:buChar char="-"/>
              <a:defRPr/>
            </a:lvl2pPr>
            <a:lvl3pPr indent="-330200" lvl="2" marL="1371600" algn="l">
              <a:lnSpc>
                <a:spcPct val="90000"/>
              </a:lnSpc>
              <a:spcBef>
                <a:spcPts val="500"/>
              </a:spcBef>
              <a:spcAft>
                <a:spcPts val="0"/>
              </a:spcAft>
              <a:buSzPts val="1600"/>
              <a:buFont typeface="NTR"/>
              <a:buChar char="-"/>
              <a:defRPr/>
            </a:lvl3pPr>
            <a:lvl4pPr indent="-330200" lvl="3" marL="1828800" algn="l">
              <a:lnSpc>
                <a:spcPct val="90000"/>
              </a:lnSpc>
              <a:spcBef>
                <a:spcPts val="500"/>
              </a:spcBef>
              <a:spcAft>
                <a:spcPts val="0"/>
              </a:spcAft>
              <a:buSzPts val="1600"/>
              <a:buFont typeface="NTR"/>
              <a:buChar char="-"/>
              <a:defRPr/>
            </a:lvl4pPr>
            <a:lvl5pPr indent="-317500" lvl="4" marL="2286000" algn="l">
              <a:lnSpc>
                <a:spcPct val="90000"/>
              </a:lnSpc>
              <a:spcBef>
                <a:spcPts val="500"/>
              </a:spcBef>
              <a:spcAft>
                <a:spcPts val="0"/>
              </a:spcAft>
              <a:buSzPts val="1400"/>
              <a:buFont typeface="NTR"/>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Thank You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28985" r="0" t="0"/>
          <a:stretch/>
        </p:blipFill>
        <p:spPr>
          <a:xfrm>
            <a:off x="2" y="0"/>
            <a:ext cx="7305260" cy="6858000"/>
          </a:xfrm>
          <a:prstGeom prst="rect">
            <a:avLst/>
          </a:prstGeom>
          <a:noFill/>
          <a:ln>
            <a:noFill/>
          </a:ln>
        </p:spPr>
      </p:pic>
      <p:pic>
        <p:nvPicPr>
          <p:cNvPr id="28" name="Google Shape;28;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 name="Google Shape;29;p5"/>
          <p:cNvSpPr/>
          <p:nvPr/>
        </p:nvSpPr>
        <p:spPr>
          <a:xfrm>
            <a:off x="7284722" y="3144277"/>
            <a:ext cx="4245895" cy="92333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5400"/>
              <a:buFont typeface="Arial"/>
              <a:buNone/>
            </a:pPr>
            <a:r>
              <a:rPr b="0" i="0" lang="en-US" sz="5400" u="none" cap="none" strike="noStrike">
                <a:solidFill>
                  <a:schemeClr val="lt1"/>
                </a:solidFill>
                <a:latin typeface="Saira Condensed Light"/>
                <a:ea typeface="Saira Condensed Light"/>
                <a:cs typeface="Saira Condensed Light"/>
                <a:sym typeface="Saira Condensed Light"/>
              </a:rPr>
              <a:t>THANK </a:t>
            </a:r>
            <a:r>
              <a:rPr b="1" i="0" lang="en-US" sz="5400" u="none" cap="none" strike="noStrike">
                <a:solidFill>
                  <a:schemeClr val="lt1"/>
                </a:solidFill>
                <a:latin typeface="Saira Condensed Light"/>
                <a:ea typeface="Saira Condensed Light"/>
                <a:cs typeface="Saira Condensed Light"/>
                <a:sym typeface="Saira Condensed Light"/>
              </a:rPr>
              <a:t>YOU</a:t>
            </a:r>
            <a:endParaRPr b="0" i="0" sz="1400" u="none" cap="none" strike="noStrike">
              <a:solidFill>
                <a:srgbClr val="000000"/>
              </a:solidFill>
              <a:latin typeface="Arial"/>
              <a:ea typeface="Arial"/>
              <a:cs typeface="Arial"/>
              <a:sym typeface="Arial"/>
            </a:endParaRPr>
          </a:p>
        </p:txBody>
      </p:sp>
      <p:sp>
        <p:nvSpPr>
          <p:cNvPr id="30" name="Google Shape;30;p5"/>
          <p:cNvSpPr/>
          <p:nvPr/>
        </p:nvSpPr>
        <p:spPr>
          <a:xfrm>
            <a:off x="6096002" y="5170418"/>
            <a:ext cx="5434615" cy="58477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IBM Plex Sans"/>
                <a:ea typeface="IBM Plex Sans"/>
                <a:cs typeface="IBM Plex Sans"/>
                <a:sym typeface="IBM Plex Sans"/>
              </a:rPr>
              <a:t>Stevens Institute of Technology</a:t>
            </a:r>
            <a:br>
              <a:rPr b="1" i="0" lang="en-US" sz="1600" u="none" cap="none" strike="noStrike">
                <a:solidFill>
                  <a:schemeClr val="lt1"/>
                </a:solidFill>
                <a:latin typeface="IBM Plex Sans"/>
                <a:ea typeface="IBM Plex Sans"/>
                <a:cs typeface="IBM Plex Sans"/>
                <a:sym typeface="IBM Plex Sans"/>
              </a:rPr>
            </a:br>
            <a:r>
              <a:rPr b="0" i="0" lang="en-US" sz="1600" u="none" cap="none" strike="noStrike">
                <a:solidFill>
                  <a:schemeClr val="lt1"/>
                </a:solidFill>
                <a:latin typeface="IBM Plex Sans"/>
                <a:ea typeface="IBM Plex Sans"/>
                <a:cs typeface="IBM Plex Sans"/>
                <a:sym typeface="IBM Plex Sans"/>
              </a:rPr>
              <a:t>1 Castle Point Terrace, Hoboken, NJ 07030</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31" name="Shape 31"/>
        <p:cNvGrpSpPr/>
        <p:nvPr/>
      </p:nvGrpSpPr>
      <p:grpSpPr>
        <a:xfrm>
          <a:off x="0" y="0"/>
          <a:ext cx="0" cy="0"/>
          <a:chOff x="0" y="0"/>
          <a:chExt cx="0" cy="0"/>
        </a:xfrm>
      </p:grpSpPr>
      <p:pic>
        <p:nvPicPr>
          <p:cNvPr id="32" name="Google Shape;32;p6"/>
          <p:cNvPicPr preferRelativeResize="0"/>
          <p:nvPr/>
        </p:nvPicPr>
        <p:blipFill rotWithShape="1">
          <a:blip r:embed="rId2">
            <a:alphaModFix/>
          </a:blip>
          <a:srcRect b="0" l="16253" r="0" t="0"/>
          <a:stretch/>
        </p:blipFill>
        <p:spPr>
          <a:xfrm>
            <a:off x="2" y="0"/>
            <a:ext cx="8636340" cy="6858000"/>
          </a:xfrm>
          <a:prstGeom prst="rect">
            <a:avLst/>
          </a:prstGeom>
          <a:noFill/>
          <a:ln>
            <a:noFill/>
          </a:ln>
        </p:spPr>
      </p:pic>
      <p:pic>
        <p:nvPicPr>
          <p:cNvPr id="33" name="Google Shape;33;p6"/>
          <p:cNvPicPr preferRelativeResize="0"/>
          <p:nvPr/>
        </p:nvPicPr>
        <p:blipFill rotWithShape="1">
          <a:blip r:embed="rId3">
            <a:alphaModFix/>
          </a:blip>
          <a:srcRect b="0" l="0" r="0" t="0"/>
          <a:stretch/>
        </p:blipFill>
        <p:spPr>
          <a:xfrm>
            <a:off x="298451" y="0"/>
            <a:ext cx="11893551" cy="6858000"/>
          </a:xfrm>
          <a:prstGeom prst="rect">
            <a:avLst/>
          </a:prstGeom>
          <a:noFill/>
          <a:ln>
            <a:noFill/>
          </a:ln>
        </p:spPr>
      </p:pic>
      <p:sp>
        <p:nvSpPr>
          <p:cNvPr id="34" name="Google Shape;34;p6"/>
          <p:cNvSpPr txBox="1"/>
          <p:nvPr>
            <p:ph type="ctrTitle"/>
          </p:nvPr>
        </p:nvSpPr>
        <p:spPr>
          <a:xfrm>
            <a:off x="6324602" y="2504921"/>
            <a:ext cx="5206015" cy="2061531"/>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5400"/>
              <a:buFont typeface="Saira Condensed Light"/>
              <a:buNone/>
              <a:defRPr b="0" i="0" sz="5400">
                <a:solidFill>
                  <a:schemeClr val="lt1"/>
                </a:solidFill>
                <a:latin typeface="Saira Condensed Light"/>
                <a:ea typeface="Saira Condensed Light"/>
                <a:cs typeface="Saira Condensed Light"/>
                <a:sym typeface="Saira Condensed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subTitle"/>
          </p:nvPr>
        </p:nvSpPr>
        <p:spPr>
          <a:xfrm>
            <a:off x="6616701" y="4591369"/>
            <a:ext cx="4913915" cy="934635"/>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SzPts val="2000"/>
              <a:buNone/>
              <a:defRPr b="0" i="0" sz="2000">
                <a:solidFill>
                  <a:schemeClr val="lt1"/>
                </a:solidFill>
                <a:latin typeface="IBM Plex Sans"/>
                <a:ea typeface="IBM Plex Sans"/>
                <a:cs typeface="IBM Plex Sans"/>
                <a:sym typeface="IBM Plex Sans"/>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6"/>
          <p:cNvSpPr txBox="1"/>
          <p:nvPr>
            <p:ph idx="2" type="body"/>
          </p:nvPr>
        </p:nvSpPr>
        <p:spPr>
          <a:xfrm>
            <a:off x="6794501" y="5690085"/>
            <a:ext cx="4736115" cy="42250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SzPts val="1800"/>
              <a:buNone/>
              <a:defRPr b="1" i="0" sz="1800">
                <a:solidFill>
                  <a:schemeClr val="lt1"/>
                </a:solidFill>
                <a:latin typeface="IBM Plex Sans SemiBold"/>
                <a:ea typeface="IBM Plex Sans SemiBold"/>
                <a:cs typeface="IBM Plex Sans SemiBold"/>
                <a:sym typeface="IBM Plex Sans SemiBold"/>
              </a:defRPr>
            </a:lvl1pPr>
            <a:lvl2pPr indent="-228600" lvl="1" marL="914400" algn="r">
              <a:lnSpc>
                <a:spcPct val="90000"/>
              </a:lnSpc>
              <a:spcBef>
                <a:spcPts val="500"/>
              </a:spcBef>
              <a:spcAft>
                <a:spcPts val="0"/>
              </a:spcAft>
              <a:buSzPts val="1800"/>
              <a:buNone/>
              <a:defRPr/>
            </a:lvl2pPr>
            <a:lvl3pPr indent="-228600" lvl="2" marL="1371600" algn="r">
              <a:lnSpc>
                <a:spcPct val="90000"/>
              </a:lnSpc>
              <a:spcBef>
                <a:spcPts val="500"/>
              </a:spcBef>
              <a:spcAft>
                <a:spcPts val="0"/>
              </a:spcAft>
              <a:buSzPts val="1600"/>
              <a:buNone/>
              <a:defRPr/>
            </a:lvl3pPr>
            <a:lvl4pPr indent="-228600" lvl="3" marL="1828800" algn="r">
              <a:lnSpc>
                <a:spcPct val="90000"/>
              </a:lnSpc>
              <a:spcBef>
                <a:spcPts val="500"/>
              </a:spcBef>
              <a:spcAft>
                <a:spcPts val="0"/>
              </a:spcAft>
              <a:buSzPts val="1600"/>
              <a:buNone/>
              <a:defRPr/>
            </a:lvl4pPr>
            <a:lvl5pPr indent="-228600" lvl="4" marL="2286000" algn="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10406269" y="6342033"/>
            <a:ext cx="1124345" cy="246221"/>
          </a:xfrm>
          <a:prstGeom prst="rect">
            <a:avLst/>
          </a:prstGeom>
          <a:solidFill>
            <a:schemeClr val="accent1"/>
          </a:solidFill>
          <a:ln>
            <a:noFill/>
          </a:ln>
        </p:spPr>
        <p:txBody>
          <a:bodyPr anchorCtr="0" anchor="t" bIns="45700" lIns="91425" spcFirstLastPara="1" rIns="91425" wrap="square" tIns="45700">
            <a:sp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lt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Custom Image">
  <p:cSld name="Title Slide - Custom Image">
    <p:spTree>
      <p:nvGrpSpPr>
        <p:cNvPr id="38" name="Shape 38"/>
        <p:cNvGrpSpPr/>
        <p:nvPr/>
      </p:nvGrpSpPr>
      <p:grpSpPr>
        <a:xfrm>
          <a:off x="0" y="0"/>
          <a:ext cx="0" cy="0"/>
          <a:chOff x="0" y="0"/>
          <a:chExt cx="0" cy="0"/>
        </a:xfrm>
      </p:grpSpPr>
      <p:pic>
        <p:nvPicPr>
          <p:cNvPr id="39" name="Google Shape;39;p7"/>
          <p:cNvPicPr preferRelativeResize="0"/>
          <p:nvPr/>
        </p:nvPicPr>
        <p:blipFill rotWithShape="1">
          <a:blip r:embed="rId2">
            <a:alphaModFix/>
          </a:blip>
          <a:srcRect b="0" l="103" r="14569" t="0"/>
          <a:stretch/>
        </p:blipFill>
        <p:spPr>
          <a:xfrm>
            <a:off x="-2033456" y="0"/>
            <a:ext cx="10392405" cy="6858000"/>
          </a:xfrm>
          <a:prstGeom prst="rect">
            <a:avLst/>
          </a:prstGeom>
          <a:noFill/>
          <a:ln>
            <a:noFill/>
          </a:ln>
        </p:spPr>
      </p:pic>
      <p:pic>
        <p:nvPicPr>
          <p:cNvPr id="40" name="Google Shape;40;p7"/>
          <p:cNvPicPr preferRelativeResize="0"/>
          <p:nvPr/>
        </p:nvPicPr>
        <p:blipFill rotWithShape="1">
          <a:blip r:embed="rId3">
            <a:alphaModFix/>
          </a:blip>
          <a:srcRect b="0" l="0" r="0" t="0"/>
          <a:stretch/>
        </p:blipFill>
        <p:spPr>
          <a:xfrm>
            <a:off x="298449" y="0"/>
            <a:ext cx="11893551" cy="6858000"/>
          </a:xfrm>
          <a:prstGeom prst="rect">
            <a:avLst/>
          </a:prstGeom>
          <a:noFill/>
          <a:ln>
            <a:noFill/>
          </a:ln>
        </p:spPr>
      </p:pic>
      <p:sp>
        <p:nvSpPr>
          <p:cNvPr id="41" name="Google Shape;41;p7"/>
          <p:cNvSpPr txBox="1"/>
          <p:nvPr>
            <p:ph type="ctrTitle"/>
          </p:nvPr>
        </p:nvSpPr>
        <p:spPr>
          <a:xfrm>
            <a:off x="6324602" y="2504921"/>
            <a:ext cx="5206015" cy="2061531"/>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5400"/>
              <a:buFont typeface="Saira Condensed Light"/>
              <a:buNone/>
              <a:defRPr b="0" i="0" sz="5400">
                <a:solidFill>
                  <a:schemeClr val="lt1"/>
                </a:solidFill>
                <a:latin typeface="Saira Condensed Light"/>
                <a:ea typeface="Saira Condensed Light"/>
                <a:cs typeface="Saira Condensed Light"/>
                <a:sym typeface="Saira Condensed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subTitle"/>
          </p:nvPr>
        </p:nvSpPr>
        <p:spPr>
          <a:xfrm>
            <a:off x="6616701" y="4591369"/>
            <a:ext cx="4913915" cy="934635"/>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SzPts val="2000"/>
              <a:buNone/>
              <a:defRPr b="0" i="0" sz="2000">
                <a:solidFill>
                  <a:schemeClr val="lt1"/>
                </a:solidFill>
                <a:latin typeface="IBM Plex Sans"/>
                <a:ea typeface="IBM Plex Sans"/>
                <a:cs typeface="IBM Plex Sans"/>
                <a:sym typeface="IBM Plex Sans"/>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7"/>
          <p:cNvSpPr txBox="1"/>
          <p:nvPr>
            <p:ph idx="10" type="dt"/>
          </p:nvPr>
        </p:nvSpPr>
        <p:spPr>
          <a:xfrm>
            <a:off x="10446026" y="6362185"/>
            <a:ext cx="1084590" cy="246221"/>
          </a:xfrm>
          <a:prstGeom prst="rect">
            <a:avLst/>
          </a:prstGeom>
          <a:solidFill>
            <a:schemeClr val="accent1"/>
          </a:solidFill>
          <a:ln>
            <a:noFill/>
          </a:ln>
        </p:spPr>
        <p:txBody>
          <a:bodyPr anchorCtr="0" anchor="t" bIns="45700" lIns="91425" spcFirstLastPara="1" rIns="91425" wrap="square" tIns="45700">
            <a:sp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lt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2" type="body"/>
          </p:nvPr>
        </p:nvSpPr>
        <p:spPr>
          <a:xfrm>
            <a:off x="6794501" y="5690085"/>
            <a:ext cx="4736115" cy="42250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SzPts val="1800"/>
              <a:buNone/>
              <a:defRPr b="1" i="0" sz="1800">
                <a:solidFill>
                  <a:schemeClr val="lt1"/>
                </a:solidFill>
                <a:latin typeface="IBM Plex Sans SemiBold"/>
                <a:ea typeface="IBM Plex Sans SemiBold"/>
                <a:cs typeface="IBM Plex Sans SemiBold"/>
                <a:sym typeface="IBM Plex Sans SemiBold"/>
              </a:defRPr>
            </a:lvl1pPr>
            <a:lvl2pPr indent="-228600" lvl="1" marL="914400" algn="r">
              <a:lnSpc>
                <a:spcPct val="90000"/>
              </a:lnSpc>
              <a:spcBef>
                <a:spcPts val="500"/>
              </a:spcBef>
              <a:spcAft>
                <a:spcPts val="0"/>
              </a:spcAft>
              <a:buSzPts val="1800"/>
              <a:buNone/>
              <a:defRPr/>
            </a:lvl2pPr>
            <a:lvl3pPr indent="-228600" lvl="2" marL="1371600" algn="r">
              <a:lnSpc>
                <a:spcPct val="90000"/>
              </a:lnSpc>
              <a:spcBef>
                <a:spcPts val="500"/>
              </a:spcBef>
              <a:spcAft>
                <a:spcPts val="0"/>
              </a:spcAft>
              <a:buSzPts val="1600"/>
              <a:buNone/>
              <a:defRPr/>
            </a:lvl3pPr>
            <a:lvl4pPr indent="-228600" lvl="3" marL="1828800" algn="r">
              <a:lnSpc>
                <a:spcPct val="90000"/>
              </a:lnSpc>
              <a:spcBef>
                <a:spcPts val="500"/>
              </a:spcBef>
              <a:spcAft>
                <a:spcPts val="0"/>
              </a:spcAft>
              <a:buSzPts val="1600"/>
              <a:buNone/>
              <a:defRPr/>
            </a:lvl4pPr>
            <a:lvl5pPr indent="-228600" lvl="4" marL="2286000" algn="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p:nvPr/>
        </p:nvSpPr>
        <p:spPr>
          <a:xfrm>
            <a:off x="912816" y="1325690"/>
            <a:ext cx="4215776" cy="5135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IBM Plex Sans"/>
                <a:ea typeface="IBM Plex Sans"/>
                <a:cs typeface="IBM Plex Sans"/>
                <a:sym typeface="IBM Plex Sans"/>
              </a:rPr>
              <a:t>INSTRUCTIONS TO REPLACE IMAGE: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IBM Plex Sans"/>
              <a:ea typeface="IBM Plex Sans"/>
              <a:cs typeface="IBM Plex Sans"/>
              <a:sym typeface="IBM Plex Sans"/>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Go to View&gt;Slide Master</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Locate this layout and duplicate it</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Right-click the orange circle on the far-left side of this image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Scroll to “Change Picture”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Select “From File” (note that your version of PowerPoint may use different menu language)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Select desired image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Resize and crop image as necessary</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Make sure image is sent to back (right click on image)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IBM Plex Sans"/>
                <a:ea typeface="IBM Plex Sans"/>
                <a:cs typeface="IBM Plex Sans"/>
                <a:sym typeface="IBM Plex Sans"/>
              </a:rPr>
              <a:t>Close slide master and insert a new slide using the new, then delete this text box from your presentation slide.</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pic>
        <p:nvPicPr>
          <p:cNvPr id="47" name="Google Shape;47;p8"/>
          <p:cNvPicPr preferRelativeResize="0"/>
          <p:nvPr/>
        </p:nvPicPr>
        <p:blipFill rotWithShape="1">
          <a:blip r:embed="rId2">
            <a:alphaModFix/>
          </a:blip>
          <a:srcRect b="0" l="0" r="0" t="0"/>
          <a:stretch/>
        </p:blipFill>
        <p:spPr>
          <a:xfrm>
            <a:off x="0" y="0"/>
            <a:ext cx="12090400" cy="6858000"/>
          </a:xfrm>
          <a:prstGeom prst="rect">
            <a:avLst/>
          </a:prstGeom>
          <a:noFill/>
          <a:ln>
            <a:noFill/>
          </a:ln>
        </p:spPr>
      </p:pic>
      <p:pic>
        <p:nvPicPr>
          <p:cNvPr id="48" name="Google Shape;48;p8"/>
          <p:cNvPicPr preferRelativeResize="0"/>
          <p:nvPr/>
        </p:nvPicPr>
        <p:blipFill rotWithShape="1">
          <a:blip r:embed="rId3">
            <a:alphaModFix/>
          </a:blip>
          <a:srcRect b="0" l="0" r="0" t="0"/>
          <a:stretch/>
        </p:blipFill>
        <p:spPr>
          <a:xfrm>
            <a:off x="298451" y="0"/>
            <a:ext cx="11893551" cy="6858000"/>
          </a:xfrm>
          <a:prstGeom prst="rect">
            <a:avLst/>
          </a:prstGeom>
          <a:noFill/>
          <a:ln>
            <a:noFill/>
          </a:ln>
        </p:spPr>
      </p:pic>
      <p:sp>
        <p:nvSpPr>
          <p:cNvPr id="49" name="Google Shape;49;p8"/>
          <p:cNvSpPr txBox="1"/>
          <p:nvPr>
            <p:ph type="title"/>
          </p:nvPr>
        </p:nvSpPr>
        <p:spPr>
          <a:xfrm>
            <a:off x="6617373" y="974037"/>
            <a:ext cx="4913243" cy="4254363"/>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dk1"/>
              </a:buClr>
              <a:buSzPts val="5400"/>
              <a:buFont typeface="Saira Condensed SemiBol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6858002" y="5394965"/>
            <a:ext cx="4672615" cy="931499"/>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SzPts val="2000"/>
              <a:buNone/>
              <a:defRPr b="0" i="0" sz="2000">
                <a:solidFill>
                  <a:schemeClr val="dk1"/>
                </a:solidFill>
                <a:latin typeface="IBM Plex Sans"/>
                <a:ea typeface="IBM Plex Sans"/>
                <a:cs typeface="IBM Plex Sans"/>
                <a:sym typeface="IBM Plex Sans"/>
              </a:defRPr>
            </a:lvl1pPr>
            <a:lvl2pPr indent="-228600" lvl="1" marL="914400" algn="l">
              <a:lnSpc>
                <a:spcPct val="90000"/>
              </a:lnSpc>
              <a:spcBef>
                <a:spcPts val="500"/>
              </a:spcBef>
              <a:spcAft>
                <a:spcPts val="0"/>
              </a:spcAft>
              <a:buSzPts val="2000"/>
              <a:buNone/>
              <a:defRPr sz="2000">
                <a:solidFill>
                  <a:srgbClr val="8E8F92"/>
                </a:solidFill>
              </a:defRPr>
            </a:lvl2pPr>
            <a:lvl3pPr indent="-228600" lvl="2" marL="1371600" algn="l">
              <a:lnSpc>
                <a:spcPct val="90000"/>
              </a:lnSpc>
              <a:spcBef>
                <a:spcPts val="500"/>
              </a:spcBef>
              <a:spcAft>
                <a:spcPts val="0"/>
              </a:spcAft>
              <a:buSzPts val="1800"/>
              <a:buNone/>
              <a:defRPr sz="1800">
                <a:solidFill>
                  <a:srgbClr val="8E8F92"/>
                </a:solidFill>
              </a:defRPr>
            </a:lvl3pPr>
            <a:lvl4pPr indent="-228600" lvl="3" marL="1828800" algn="l">
              <a:lnSpc>
                <a:spcPct val="90000"/>
              </a:lnSpc>
              <a:spcBef>
                <a:spcPts val="500"/>
              </a:spcBef>
              <a:spcAft>
                <a:spcPts val="0"/>
              </a:spcAft>
              <a:buSzPts val="1600"/>
              <a:buNone/>
              <a:defRPr sz="1600">
                <a:solidFill>
                  <a:srgbClr val="8E8F92"/>
                </a:solidFill>
              </a:defRPr>
            </a:lvl4pPr>
            <a:lvl5pPr indent="-228600" lvl="4" marL="2286000" algn="l">
              <a:lnSpc>
                <a:spcPct val="90000"/>
              </a:lnSpc>
              <a:spcBef>
                <a:spcPts val="500"/>
              </a:spcBef>
              <a:spcAft>
                <a:spcPts val="0"/>
              </a:spcAft>
              <a:buSzPts val="1600"/>
              <a:buNone/>
              <a:defRPr sz="1600">
                <a:solidFill>
                  <a:srgbClr val="8E8F92"/>
                </a:solidFill>
              </a:defRPr>
            </a:lvl5pPr>
            <a:lvl6pPr indent="-228600" lvl="5" marL="2743200" algn="l">
              <a:lnSpc>
                <a:spcPct val="90000"/>
              </a:lnSpc>
              <a:spcBef>
                <a:spcPts val="500"/>
              </a:spcBef>
              <a:spcAft>
                <a:spcPts val="0"/>
              </a:spcAft>
              <a:buClr>
                <a:srgbClr val="8E8F92"/>
              </a:buClr>
              <a:buSzPts val="1600"/>
              <a:buNone/>
              <a:defRPr sz="1600">
                <a:solidFill>
                  <a:srgbClr val="8E8F92"/>
                </a:solidFill>
              </a:defRPr>
            </a:lvl6pPr>
            <a:lvl7pPr indent="-228600" lvl="6" marL="3200400" algn="l">
              <a:lnSpc>
                <a:spcPct val="90000"/>
              </a:lnSpc>
              <a:spcBef>
                <a:spcPts val="500"/>
              </a:spcBef>
              <a:spcAft>
                <a:spcPts val="0"/>
              </a:spcAft>
              <a:buClr>
                <a:srgbClr val="8E8F92"/>
              </a:buClr>
              <a:buSzPts val="1600"/>
              <a:buNone/>
              <a:defRPr sz="1600">
                <a:solidFill>
                  <a:srgbClr val="8E8F92"/>
                </a:solidFill>
              </a:defRPr>
            </a:lvl7pPr>
            <a:lvl8pPr indent="-228600" lvl="7" marL="3657600" algn="l">
              <a:lnSpc>
                <a:spcPct val="90000"/>
              </a:lnSpc>
              <a:spcBef>
                <a:spcPts val="500"/>
              </a:spcBef>
              <a:spcAft>
                <a:spcPts val="0"/>
              </a:spcAft>
              <a:buClr>
                <a:srgbClr val="8E8F92"/>
              </a:buClr>
              <a:buSzPts val="1600"/>
              <a:buNone/>
              <a:defRPr sz="1600">
                <a:solidFill>
                  <a:srgbClr val="8E8F92"/>
                </a:solidFill>
              </a:defRPr>
            </a:lvl8pPr>
            <a:lvl9pPr indent="-228600" lvl="8" marL="4114800" algn="l">
              <a:lnSpc>
                <a:spcPct val="90000"/>
              </a:lnSpc>
              <a:spcBef>
                <a:spcPts val="500"/>
              </a:spcBef>
              <a:spcAft>
                <a:spcPts val="0"/>
              </a:spcAft>
              <a:buClr>
                <a:srgbClr val="8E8F92"/>
              </a:buClr>
              <a:buSzPts val="1600"/>
              <a:buNone/>
              <a:defRPr sz="1600">
                <a:solidFill>
                  <a:srgbClr val="8E8F9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head and Content">
  <p:cSld name="Title, Subhead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646359" y="365127"/>
            <a:ext cx="10709031" cy="73462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 type="body"/>
          </p:nvPr>
        </p:nvSpPr>
        <p:spPr>
          <a:xfrm>
            <a:off x="644771" y="1345482"/>
            <a:ext cx="10709031" cy="7346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000"/>
              <a:buNone/>
              <a:defRPr b="0" i="0" sz="2000">
                <a:solidFill>
                  <a:schemeClr val="accent1"/>
                </a:solidFill>
                <a:latin typeface="IBM Plex Sans Light"/>
                <a:ea typeface="IBM Plex Sans Light"/>
                <a:cs typeface="IBM Plex Sans Light"/>
                <a:sym typeface="IBM Plex Sans Light"/>
              </a:defRPr>
            </a:lvl1pPr>
            <a:lvl2pPr indent="-228600" lvl="1" marL="914400" algn="l">
              <a:lnSpc>
                <a:spcPct val="90000"/>
              </a:lnSpc>
              <a:spcBef>
                <a:spcPts val="500"/>
              </a:spcBef>
              <a:spcAft>
                <a:spcPts val="0"/>
              </a:spcAft>
              <a:buSzPts val="1800"/>
              <a:buNone/>
              <a:defRPr b="0" i="0">
                <a:solidFill>
                  <a:schemeClr val="accent1"/>
                </a:solidFill>
                <a:latin typeface="IBM Plex Sans Light"/>
                <a:ea typeface="IBM Plex Sans Light"/>
                <a:cs typeface="IBM Plex Sans Light"/>
                <a:sym typeface="IBM Plex Sans Light"/>
              </a:defRPr>
            </a:lvl2pPr>
            <a:lvl3pPr indent="-228600" lvl="2" marL="13716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3pPr>
            <a:lvl4pPr indent="-228600" lvl="3" marL="18288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4pPr>
            <a:lvl5pPr indent="-228600" lvl="4" marL="2286000" algn="l">
              <a:lnSpc>
                <a:spcPct val="90000"/>
              </a:lnSpc>
              <a:spcBef>
                <a:spcPts val="500"/>
              </a:spcBef>
              <a:spcAft>
                <a:spcPts val="0"/>
              </a:spcAft>
              <a:buSzPts val="1400"/>
              <a:buNone/>
              <a:defRPr b="0" i="0">
                <a:solidFill>
                  <a:schemeClr val="accent1"/>
                </a:solidFill>
                <a:latin typeface="IBM Plex Sans Light"/>
                <a:ea typeface="IBM Plex Sans Light"/>
                <a:cs typeface="IBM Plex Sans Light"/>
                <a:sym typeface="IBM Plex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9"/>
          <p:cNvSpPr txBox="1"/>
          <p:nvPr>
            <p:ph idx="2" type="body"/>
          </p:nvPr>
        </p:nvSpPr>
        <p:spPr>
          <a:xfrm>
            <a:off x="644771" y="2202874"/>
            <a:ext cx="10709031" cy="387927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9"/>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6" name="Shape 56"/>
        <p:cNvGrpSpPr/>
        <p:nvPr/>
      </p:nvGrpSpPr>
      <p:grpSpPr>
        <a:xfrm>
          <a:off x="0" y="0"/>
          <a:ext cx="0" cy="0"/>
          <a:chOff x="0" y="0"/>
          <a:chExt cx="0" cy="0"/>
        </a:xfrm>
      </p:grpSpPr>
      <p:sp>
        <p:nvSpPr>
          <p:cNvPr id="57" name="Google Shape;57;p10"/>
          <p:cNvSpPr txBox="1"/>
          <p:nvPr>
            <p:ph type="title"/>
          </p:nvPr>
        </p:nvSpPr>
        <p:spPr>
          <a:xfrm>
            <a:off x="644769" y="365125"/>
            <a:ext cx="10710619"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0"/>
          <p:cNvSpPr txBox="1"/>
          <p:nvPr>
            <p:ph idx="1" type="body"/>
          </p:nvPr>
        </p:nvSpPr>
        <p:spPr>
          <a:xfrm>
            <a:off x="644769" y="1825625"/>
            <a:ext cx="5181600" cy="43513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0"/>
          <p:cNvSpPr txBox="1"/>
          <p:nvPr>
            <p:ph idx="2" type="body"/>
          </p:nvPr>
        </p:nvSpPr>
        <p:spPr>
          <a:xfrm>
            <a:off x="6172200" y="1825625"/>
            <a:ext cx="5181600" cy="43513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10"/>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61" name="Shape 61"/>
        <p:cNvGrpSpPr/>
        <p:nvPr/>
      </p:nvGrpSpPr>
      <p:grpSpPr>
        <a:xfrm>
          <a:off x="0" y="0"/>
          <a:ext cx="0" cy="0"/>
          <a:chOff x="0" y="0"/>
          <a:chExt cx="0" cy="0"/>
        </a:xfrm>
      </p:grpSpPr>
      <p:sp>
        <p:nvSpPr>
          <p:cNvPr id="62" name="Google Shape;62;p11"/>
          <p:cNvSpPr txBox="1"/>
          <p:nvPr>
            <p:ph type="title"/>
          </p:nvPr>
        </p:nvSpPr>
        <p:spPr>
          <a:xfrm>
            <a:off x="644769" y="365125"/>
            <a:ext cx="10710619"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 type="body"/>
          </p:nvPr>
        </p:nvSpPr>
        <p:spPr>
          <a:xfrm>
            <a:off x="644773" y="1825625"/>
            <a:ext cx="3296919" cy="43513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1"/>
          <p:cNvSpPr txBox="1"/>
          <p:nvPr>
            <p:ph idx="2" type="body"/>
          </p:nvPr>
        </p:nvSpPr>
        <p:spPr>
          <a:xfrm>
            <a:off x="4351622" y="1825625"/>
            <a:ext cx="3296919" cy="43513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1"/>
          <p:cNvSpPr txBox="1"/>
          <p:nvPr>
            <p:ph idx="3" type="body"/>
          </p:nvPr>
        </p:nvSpPr>
        <p:spPr>
          <a:xfrm>
            <a:off x="8058471" y="1825625"/>
            <a:ext cx="3296919" cy="43513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1"/>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and Subhead">
  <p:cSld name="Three Content and Subhead">
    <p:spTree>
      <p:nvGrpSpPr>
        <p:cNvPr id="67" name="Shape 67"/>
        <p:cNvGrpSpPr/>
        <p:nvPr/>
      </p:nvGrpSpPr>
      <p:grpSpPr>
        <a:xfrm>
          <a:off x="0" y="0"/>
          <a:ext cx="0" cy="0"/>
          <a:chOff x="0" y="0"/>
          <a:chExt cx="0" cy="0"/>
        </a:xfrm>
      </p:grpSpPr>
      <p:sp>
        <p:nvSpPr>
          <p:cNvPr id="68" name="Google Shape;68;p12"/>
          <p:cNvSpPr txBox="1"/>
          <p:nvPr>
            <p:ph type="title"/>
          </p:nvPr>
        </p:nvSpPr>
        <p:spPr>
          <a:xfrm>
            <a:off x="646359" y="365127"/>
            <a:ext cx="10709031" cy="73462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2"/>
          <p:cNvSpPr txBox="1"/>
          <p:nvPr>
            <p:ph idx="1" type="body"/>
          </p:nvPr>
        </p:nvSpPr>
        <p:spPr>
          <a:xfrm>
            <a:off x="644771" y="1345482"/>
            <a:ext cx="10709031" cy="7346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000"/>
              <a:buNone/>
              <a:defRPr b="0" i="0" sz="2000">
                <a:solidFill>
                  <a:schemeClr val="accent1"/>
                </a:solidFill>
                <a:latin typeface="IBM Plex Sans Light"/>
                <a:ea typeface="IBM Plex Sans Light"/>
                <a:cs typeface="IBM Plex Sans Light"/>
                <a:sym typeface="IBM Plex Sans Light"/>
              </a:defRPr>
            </a:lvl1pPr>
            <a:lvl2pPr indent="-228600" lvl="1" marL="914400" algn="l">
              <a:lnSpc>
                <a:spcPct val="90000"/>
              </a:lnSpc>
              <a:spcBef>
                <a:spcPts val="500"/>
              </a:spcBef>
              <a:spcAft>
                <a:spcPts val="0"/>
              </a:spcAft>
              <a:buSzPts val="1800"/>
              <a:buNone/>
              <a:defRPr b="0" i="0">
                <a:solidFill>
                  <a:schemeClr val="accent1"/>
                </a:solidFill>
                <a:latin typeface="IBM Plex Sans Light"/>
                <a:ea typeface="IBM Plex Sans Light"/>
                <a:cs typeface="IBM Plex Sans Light"/>
                <a:sym typeface="IBM Plex Sans Light"/>
              </a:defRPr>
            </a:lvl2pPr>
            <a:lvl3pPr indent="-228600" lvl="2" marL="13716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3pPr>
            <a:lvl4pPr indent="-228600" lvl="3" marL="18288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4pPr>
            <a:lvl5pPr indent="-228600" lvl="4" marL="2286000" algn="l">
              <a:lnSpc>
                <a:spcPct val="90000"/>
              </a:lnSpc>
              <a:spcBef>
                <a:spcPts val="500"/>
              </a:spcBef>
              <a:spcAft>
                <a:spcPts val="0"/>
              </a:spcAft>
              <a:buSzPts val="1400"/>
              <a:buNone/>
              <a:defRPr b="0" i="0">
                <a:solidFill>
                  <a:schemeClr val="accent1"/>
                </a:solidFill>
                <a:latin typeface="IBM Plex Sans Light"/>
                <a:ea typeface="IBM Plex Sans Light"/>
                <a:cs typeface="IBM Plex Sans Light"/>
                <a:sym typeface="IBM Plex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2"/>
          <p:cNvSpPr txBox="1"/>
          <p:nvPr>
            <p:ph idx="2" type="body"/>
          </p:nvPr>
        </p:nvSpPr>
        <p:spPr>
          <a:xfrm>
            <a:off x="644773" y="2325836"/>
            <a:ext cx="3296919" cy="38511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2"/>
          <p:cNvSpPr txBox="1"/>
          <p:nvPr>
            <p:ph idx="3" type="body"/>
          </p:nvPr>
        </p:nvSpPr>
        <p:spPr>
          <a:xfrm>
            <a:off x="4351622" y="2325836"/>
            <a:ext cx="3296919" cy="38511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2"/>
          <p:cNvSpPr txBox="1"/>
          <p:nvPr>
            <p:ph idx="4" type="body"/>
          </p:nvPr>
        </p:nvSpPr>
        <p:spPr>
          <a:xfrm>
            <a:off x="8058471" y="2325836"/>
            <a:ext cx="3296919" cy="38511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74" name="Shape 74"/>
        <p:cNvGrpSpPr/>
        <p:nvPr/>
      </p:nvGrpSpPr>
      <p:grpSpPr>
        <a:xfrm>
          <a:off x="0" y="0"/>
          <a:ext cx="0" cy="0"/>
          <a:chOff x="0" y="0"/>
          <a:chExt cx="0" cy="0"/>
        </a:xfrm>
      </p:grpSpPr>
      <p:sp>
        <p:nvSpPr>
          <p:cNvPr id="75" name="Google Shape;75;p13"/>
          <p:cNvSpPr txBox="1"/>
          <p:nvPr>
            <p:ph type="title"/>
          </p:nvPr>
        </p:nvSpPr>
        <p:spPr>
          <a:xfrm>
            <a:off x="644769" y="365125"/>
            <a:ext cx="10710619"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 type="body"/>
          </p:nvPr>
        </p:nvSpPr>
        <p:spPr>
          <a:xfrm>
            <a:off x="644526" y="1962352"/>
            <a:ext cx="4954588" cy="1828165"/>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2" type="body"/>
          </p:nvPr>
        </p:nvSpPr>
        <p:spPr>
          <a:xfrm>
            <a:off x="6400803" y="1962352"/>
            <a:ext cx="4954588" cy="1828165"/>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3"/>
          <p:cNvSpPr txBox="1"/>
          <p:nvPr>
            <p:ph idx="3" type="body"/>
          </p:nvPr>
        </p:nvSpPr>
        <p:spPr>
          <a:xfrm>
            <a:off x="644526" y="4119680"/>
            <a:ext cx="4954588" cy="1828165"/>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3"/>
          <p:cNvSpPr txBox="1"/>
          <p:nvPr>
            <p:ph idx="4" type="body"/>
          </p:nvPr>
        </p:nvSpPr>
        <p:spPr>
          <a:xfrm>
            <a:off x="6400803" y="4119680"/>
            <a:ext cx="4954588" cy="1828165"/>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3"/>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and subhead">
  <p:cSld name="Four Content and subhead">
    <p:spTree>
      <p:nvGrpSpPr>
        <p:cNvPr id="81" name="Shape 81"/>
        <p:cNvGrpSpPr/>
        <p:nvPr/>
      </p:nvGrpSpPr>
      <p:grpSpPr>
        <a:xfrm>
          <a:off x="0" y="0"/>
          <a:ext cx="0" cy="0"/>
          <a:chOff x="0" y="0"/>
          <a:chExt cx="0" cy="0"/>
        </a:xfrm>
      </p:grpSpPr>
      <p:sp>
        <p:nvSpPr>
          <p:cNvPr id="82" name="Google Shape;82;p14"/>
          <p:cNvSpPr txBox="1"/>
          <p:nvPr>
            <p:ph type="title"/>
          </p:nvPr>
        </p:nvSpPr>
        <p:spPr>
          <a:xfrm>
            <a:off x="646359" y="365127"/>
            <a:ext cx="10709031" cy="73462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 type="body"/>
          </p:nvPr>
        </p:nvSpPr>
        <p:spPr>
          <a:xfrm>
            <a:off x="644771" y="1345482"/>
            <a:ext cx="10709031" cy="7346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000"/>
              <a:buNone/>
              <a:defRPr b="0" i="0" sz="2000">
                <a:solidFill>
                  <a:schemeClr val="accent1"/>
                </a:solidFill>
                <a:latin typeface="IBM Plex Sans Light"/>
                <a:ea typeface="IBM Plex Sans Light"/>
                <a:cs typeface="IBM Plex Sans Light"/>
                <a:sym typeface="IBM Plex Sans Light"/>
              </a:defRPr>
            </a:lvl1pPr>
            <a:lvl2pPr indent="-228600" lvl="1" marL="914400" algn="l">
              <a:lnSpc>
                <a:spcPct val="90000"/>
              </a:lnSpc>
              <a:spcBef>
                <a:spcPts val="500"/>
              </a:spcBef>
              <a:spcAft>
                <a:spcPts val="0"/>
              </a:spcAft>
              <a:buSzPts val="1800"/>
              <a:buNone/>
              <a:defRPr b="0" i="0">
                <a:solidFill>
                  <a:schemeClr val="accent1"/>
                </a:solidFill>
                <a:latin typeface="IBM Plex Sans Light"/>
                <a:ea typeface="IBM Plex Sans Light"/>
                <a:cs typeface="IBM Plex Sans Light"/>
                <a:sym typeface="IBM Plex Sans Light"/>
              </a:defRPr>
            </a:lvl2pPr>
            <a:lvl3pPr indent="-228600" lvl="2" marL="13716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3pPr>
            <a:lvl4pPr indent="-228600" lvl="3" marL="18288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4pPr>
            <a:lvl5pPr indent="-228600" lvl="4" marL="2286000" algn="l">
              <a:lnSpc>
                <a:spcPct val="90000"/>
              </a:lnSpc>
              <a:spcBef>
                <a:spcPts val="500"/>
              </a:spcBef>
              <a:spcAft>
                <a:spcPts val="0"/>
              </a:spcAft>
              <a:buSzPts val="1400"/>
              <a:buNone/>
              <a:defRPr b="0" i="0">
                <a:solidFill>
                  <a:schemeClr val="accent1"/>
                </a:solidFill>
                <a:latin typeface="IBM Plex Sans Light"/>
                <a:ea typeface="IBM Plex Sans Light"/>
                <a:cs typeface="IBM Plex Sans Light"/>
                <a:sym typeface="IBM Plex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4"/>
          <p:cNvSpPr txBox="1"/>
          <p:nvPr>
            <p:ph idx="2" type="body"/>
          </p:nvPr>
        </p:nvSpPr>
        <p:spPr>
          <a:xfrm>
            <a:off x="644526" y="2233235"/>
            <a:ext cx="4954588"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4"/>
          <p:cNvSpPr txBox="1"/>
          <p:nvPr>
            <p:ph idx="3" type="body"/>
          </p:nvPr>
        </p:nvSpPr>
        <p:spPr>
          <a:xfrm>
            <a:off x="6400803" y="2233235"/>
            <a:ext cx="4954588"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4"/>
          <p:cNvSpPr txBox="1"/>
          <p:nvPr>
            <p:ph idx="4" type="body"/>
          </p:nvPr>
        </p:nvSpPr>
        <p:spPr>
          <a:xfrm>
            <a:off x="644526" y="4448441"/>
            <a:ext cx="4954588"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4"/>
          <p:cNvSpPr txBox="1"/>
          <p:nvPr>
            <p:ph idx="5" type="body"/>
          </p:nvPr>
        </p:nvSpPr>
        <p:spPr>
          <a:xfrm>
            <a:off x="6400803" y="4448441"/>
            <a:ext cx="4954588"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4"/>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ontent">
  <p:cSld name="Five Content">
    <p:spTree>
      <p:nvGrpSpPr>
        <p:cNvPr id="89" name="Shape 89"/>
        <p:cNvGrpSpPr/>
        <p:nvPr/>
      </p:nvGrpSpPr>
      <p:grpSpPr>
        <a:xfrm>
          <a:off x="0" y="0"/>
          <a:ext cx="0" cy="0"/>
          <a:chOff x="0" y="0"/>
          <a:chExt cx="0" cy="0"/>
        </a:xfrm>
      </p:grpSpPr>
      <p:sp>
        <p:nvSpPr>
          <p:cNvPr id="90" name="Google Shape;90;p15"/>
          <p:cNvSpPr txBox="1"/>
          <p:nvPr>
            <p:ph type="title"/>
          </p:nvPr>
        </p:nvSpPr>
        <p:spPr>
          <a:xfrm>
            <a:off x="644769" y="365125"/>
            <a:ext cx="10710619"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5"/>
          <p:cNvSpPr txBox="1"/>
          <p:nvPr>
            <p:ph idx="1" type="body"/>
          </p:nvPr>
        </p:nvSpPr>
        <p:spPr>
          <a:xfrm>
            <a:off x="644771" y="2210082"/>
            <a:ext cx="4572000" cy="38901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5"/>
          <p:cNvSpPr txBox="1"/>
          <p:nvPr>
            <p:ph idx="2" type="body"/>
          </p:nvPr>
        </p:nvSpPr>
        <p:spPr>
          <a:xfrm>
            <a:off x="5359999" y="2210085"/>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5"/>
          <p:cNvSpPr txBox="1"/>
          <p:nvPr>
            <p:ph idx="3" type="body"/>
          </p:nvPr>
        </p:nvSpPr>
        <p:spPr>
          <a:xfrm>
            <a:off x="8429308" y="2210086"/>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15"/>
          <p:cNvSpPr txBox="1"/>
          <p:nvPr>
            <p:ph idx="4" type="body"/>
          </p:nvPr>
        </p:nvSpPr>
        <p:spPr>
          <a:xfrm>
            <a:off x="5359999" y="4448439"/>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5"/>
          <p:cNvSpPr txBox="1"/>
          <p:nvPr>
            <p:ph idx="5" type="body"/>
          </p:nvPr>
        </p:nvSpPr>
        <p:spPr>
          <a:xfrm>
            <a:off x="8429308" y="4448441"/>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15"/>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ontent and subhead">
  <p:cSld name="Five Content and subhead">
    <p:spTree>
      <p:nvGrpSpPr>
        <p:cNvPr id="97" name="Shape 97"/>
        <p:cNvGrpSpPr/>
        <p:nvPr/>
      </p:nvGrpSpPr>
      <p:grpSpPr>
        <a:xfrm>
          <a:off x="0" y="0"/>
          <a:ext cx="0" cy="0"/>
          <a:chOff x="0" y="0"/>
          <a:chExt cx="0" cy="0"/>
        </a:xfrm>
      </p:grpSpPr>
      <p:sp>
        <p:nvSpPr>
          <p:cNvPr id="98" name="Google Shape;98;p16"/>
          <p:cNvSpPr txBox="1"/>
          <p:nvPr>
            <p:ph type="title"/>
          </p:nvPr>
        </p:nvSpPr>
        <p:spPr>
          <a:xfrm>
            <a:off x="646359" y="365127"/>
            <a:ext cx="10709031" cy="73462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6"/>
          <p:cNvSpPr txBox="1"/>
          <p:nvPr>
            <p:ph idx="1" type="body"/>
          </p:nvPr>
        </p:nvSpPr>
        <p:spPr>
          <a:xfrm>
            <a:off x="644771" y="1345482"/>
            <a:ext cx="10709031" cy="7346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000"/>
              <a:buNone/>
              <a:defRPr b="0" i="0" sz="2000">
                <a:solidFill>
                  <a:schemeClr val="accent1"/>
                </a:solidFill>
                <a:latin typeface="IBM Plex Sans Light"/>
                <a:ea typeface="IBM Plex Sans Light"/>
                <a:cs typeface="IBM Plex Sans Light"/>
                <a:sym typeface="IBM Plex Sans Light"/>
              </a:defRPr>
            </a:lvl1pPr>
            <a:lvl2pPr indent="-228600" lvl="1" marL="914400" algn="l">
              <a:lnSpc>
                <a:spcPct val="90000"/>
              </a:lnSpc>
              <a:spcBef>
                <a:spcPts val="500"/>
              </a:spcBef>
              <a:spcAft>
                <a:spcPts val="0"/>
              </a:spcAft>
              <a:buSzPts val="1800"/>
              <a:buNone/>
              <a:defRPr b="0" i="0">
                <a:solidFill>
                  <a:schemeClr val="accent1"/>
                </a:solidFill>
                <a:latin typeface="IBM Plex Sans Light"/>
                <a:ea typeface="IBM Plex Sans Light"/>
                <a:cs typeface="IBM Plex Sans Light"/>
                <a:sym typeface="IBM Plex Sans Light"/>
              </a:defRPr>
            </a:lvl2pPr>
            <a:lvl3pPr indent="-228600" lvl="2" marL="13716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3pPr>
            <a:lvl4pPr indent="-228600" lvl="3" marL="18288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4pPr>
            <a:lvl5pPr indent="-228600" lvl="4" marL="2286000" algn="l">
              <a:lnSpc>
                <a:spcPct val="90000"/>
              </a:lnSpc>
              <a:spcBef>
                <a:spcPts val="500"/>
              </a:spcBef>
              <a:spcAft>
                <a:spcPts val="0"/>
              </a:spcAft>
              <a:buSzPts val="1400"/>
              <a:buNone/>
              <a:defRPr b="0" i="0">
                <a:solidFill>
                  <a:schemeClr val="accent1"/>
                </a:solidFill>
                <a:latin typeface="IBM Plex Sans Light"/>
                <a:ea typeface="IBM Plex Sans Light"/>
                <a:cs typeface="IBM Plex Sans Light"/>
                <a:sym typeface="IBM Plex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6"/>
          <p:cNvSpPr txBox="1"/>
          <p:nvPr>
            <p:ph idx="2" type="body"/>
          </p:nvPr>
        </p:nvSpPr>
        <p:spPr>
          <a:xfrm>
            <a:off x="644771" y="2210082"/>
            <a:ext cx="4572000" cy="389016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6"/>
          <p:cNvSpPr txBox="1"/>
          <p:nvPr>
            <p:ph idx="3" type="body"/>
          </p:nvPr>
        </p:nvSpPr>
        <p:spPr>
          <a:xfrm>
            <a:off x="5359205" y="2210086"/>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16"/>
          <p:cNvSpPr txBox="1"/>
          <p:nvPr>
            <p:ph idx="4" type="body"/>
          </p:nvPr>
        </p:nvSpPr>
        <p:spPr>
          <a:xfrm>
            <a:off x="8427720" y="2210086"/>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16"/>
          <p:cNvSpPr txBox="1"/>
          <p:nvPr>
            <p:ph idx="5" type="body"/>
          </p:nvPr>
        </p:nvSpPr>
        <p:spPr>
          <a:xfrm>
            <a:off x="5359205" y="4448441"/>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6"/>
          <p:cNvSpPr txBox="1"/>
          <p:nvPr>
            <p:ph idx="6" type="body"/>
          </p:nvPr>
        </p:nvSpPr>
        <p:spPr>
          <a:xfrm>
            <a:off x="8427720" y="4448441"/>
            <a:ext cx="2926080" cy="1651807"/>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SzPts val="1800"/>
              <a:buNone/>
              <a:defRPr/>
            </a:lvl1pPr>
            <a:lvl2pPr indent="-228600" lvl="1" marL="914400" algn="ctr">
              <a:lnSpc>
                <a:spcPct val="90000"/>
              </a:lnSpc>
              <a:spcBef>
                <a:spcPts val="500"/>
              </a:spcBef>
              <a:spcAft>
                <a:spcPts val="0"/>
              </a:spcAft>
              <a:buSzPts val="1800"/>
              <a:buNone/>
              <a:defRPr/>
            </a:lvl2pPr>
            <a:lvl3pPr indent="-228600" lvl="2" marL="1371600" algn="ctr">
              <a:lnSpc>
                <a:spcPct val="90000"/>
              </a:lnSpc>
              <a:spcBef>
                <a:spcPts val="500"/>
              </a:spcBef>
              <a:spcAft>
                <a:spcPts val="0"/>
              </a:spcAft>
              <a:buSzPts val="1600"/>
              <a:buNone/>
              <a:defRPr/>
            </a:lvl3pPr>
            <a:lvl4pPr indent="-228600" lvl="3" marL="1828800" algn="ctr">
              <a:lnSpc>
                <a:spcPct val="90000"/>
              </a:lnSpc>
              <a:spcBef>
                <a:spcPts val="500"/>
              </a:spcBef>
              <a:spcAft>
                <a:spcPts val="0"/>
              </a:spcAft>
              <a:buSzPts val="1600"/>
              <a:buNone/>
              <a:defRPr/>
            </a:lvl4pPr>
            <a:lvl5pPr indent="-228600" lvl="4" marL="2286000" algn="ctr">
              <a:lnSpc>
                <a:spcPct val="90000"/>
              </a:lnSpc>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16"/>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ubhead">
  <p:cSld name="Two Content, Subhead">
    <p:spTree>
      <p:nvGrpSpPr>
        <p:cNvPr id="106" name="Shape 106"/>
        <p:cNvGrpSpPr/>
        <p:nvPr/>
      </p:nvGrpSpPr>
      <p:grpSpPr>
        <a:xfrm>
          <a:off x="0" y="0"/>
          <a:ext cx="0" cy="0"/>
          <a:chOff x="0" y="0"/>
          <a:chExt cx="0" cy="0"/>
        </a:xfrm>
      </p:grpSpPr>
      <p:sp>
        <p:nvSpPr>
          <p:cNvPr id="107" name="Google Shape;107;p17"/>
          <p:cNvSpPr txBox="1"/>
          <p:nvPr>
            <p:ph type="title"/>
          </p:nvPr>
        </p:nvSpPr>
        <p:spPr>
          <a:xfrm>
            <a:off x="646359" y="365127"/>
            <a:ext cx="10709031" cy="734621"/>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7"/>
          <p:cNvSpPr txBox="1"/>
          <p:nvPr>
            <p:ph idx="1" type="body"/>
          </p:nvPr>
        </p:nvSpPr>
        <p:spPr>
          <a:xfrm>
            <a:off x="644771" y="1345482"/>
            <a:ext cx="10709031" cy="7346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000"/>
              <a:buNone/>
              <a:defRPr b="0" i="0" sz="2000">
                <a:solidFill>
                  <a:schemeClr val="accent1"/>
                </a:solidFill>
                <a:latin typeface="IBM Plex Sans Light"/>
                <a:ea typeface="IBM Plex Sans Light"/>
                <a:cs typeface="IBM Plex Sans Light"/>
                <a:sym typeface="IBM Plex Sans Light"/>
              </a:defRPr>
            </a:lvl1pPr>
            <a:lvl2pPr indent="-228600" lvl="1" marL="914400" algn="l">
              <a:lnSpc>
                <a:spcPct val="90000"/>
              </a:lnSpc>
              <a:spcBef>
                <a:spcPts val="500"/>
              </a:spcBef>
              <a:spcAft>
                <a:spcPts val="0"/>
              </a:spcAft>
              <a:buSzPts val="1800"/>
              <a:buNone/>
              <a:defRPr b="0" i="0">
                <a:solidFill>
                  <a:schemeClr val="accent1"/>
                </a:solidFill>
                <a:latin typeface="IBM Plex Sans Light"/>
                <a:ea typeface="IBM Plex Sans Light"/>
                <a:cs typeface="IBM Plex Sans Light"/>
                <a:sym typeface="IBM Plex Sans Light"/>
              </a:defRPr>
            </a:lvl2pPr>
            <a:lvl3pPr indent="-228600" lvl="2" marL="13716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3pPr>
            <a:lvl4pPr indent="-228600" lvl="3" marL="1828800" algn="l">
              <a:lnSpc>
                <a:spcPct val="90000"/>
              </a:lnSpc>
              <a:spcBef>
                <a:spcPts val="500"/>
              </a:spcBef>
              <a:spcAft>
                <a:spcPts val="0"/>
              </a:spcAft>
              <a:buSzPts val="1600"/>
              <a:buNone/>
              <a:defRPr b="0" i="0">
                <a:solidFill>
                  <a:schemeClr val="accent1"/>
                </a:solidFill>
                <a:latin typeface="IBM Plex Sans Light"/>
                <a:ea typeface="IBM Plex Sans Light"/>
                <a:cs typeface="IBM Plex Sans Light"/>
                <a:sym typeface="IBM Plex Sans Light"/>
              </a:defRPr>
            </a:lvl4pPr>
            <a:lvl5pPr indent="-228600" lvl="4" marL="2286000" algn="l">
              <a:lnSpc>
                <a:spcPct val="90000"/>
              </a:lnSpc>
              <a:spcBef>
                <a:spcPts val="500"/>
              </a:spcBef>
              <a:spcAft>
                <a:spcPts val="0"/>
              </a:spcAft>
              <a:buSzPts val="1400"/>
              <a:buNone/>
              <a:defRPr b="0" i="0">
                <a:solidFill>
                  <a:schemeClr val="accent1"/>
                </a:solidFill>
                <a:latin typeface="IBM Plex Sans Light"/>
                <a:ea typeface="IBM Plex Sans Light"/>
                <a:cs typeface="IBM Plex Sans Light"/>
                <a:sym typeface="IBM Plex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17"/>
          <p:cNvSpPr txBox="1"/>
          <p:nvPr>
            <p:ph idx="2" type="body"/>
          </p:nvPr>
        </p:nvSpPr>
        <p:spPr>
          <a:xfrm>
            <a:off x="644769" y="2325836"/>
            <a:ext cx="5181600" cy="38511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7"/>
          <p:cNvSpPr txBox="1"/>
          <p:nvPr>
            <p:ph idx="3" type="body"/>
          </p:nvPr>
        </p:nvSpPr>
        <p:spPr>
          <a:xfrm>
            <a:off x="6172200" y="2325836"/>
            <a:ext cx="5181600" cy="385112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7"/>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2" name="Shape 112"/>
        <p:cNvGrpSpPr/>
        <p:nvPr/>
      </p:nvGrpSpPr>
      <p:grpSpPr>
        <a:xfrm>
          <a:off x="0" y="0"/>
          <a:ext cx="0" cy="0"/>
          <a:chOff x="0" y="0"/>
          <a:chExt cx="0" cy="0"/>
        </a:xfrm>
      </p:grpSpPr>
      <p:sp>
        <p:nvSpPr>
          <p:cNvPr id="113" name="Google Shape;113;p18"/>
          <p:cNvSpPr txBox="1"/>
          <p:nvPr>
            <p:ph type="title"/>
          </p:nvPr>
        </p:nvSpPr>
        <p:spPr>
          <a:xfrm>
            <a:off x="644769" y="365125"/>
            <a:ext cx="10710619"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8"/>
          <p:cNvSpPr txBox="1"/>
          <p:nvPr>
            <p:ph idx="1" type="body"/>
          </p:nvPr>
        </p:nvSpPr>
        <p:spPr>
          <a:xfrm>
            <a:off x="644772"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5" name="Google Shape;115;p18"/>
          <p:cNvSpPr txBox="1"/>
          <p:nvPr>
            <p:ph idx="2" type="body"/>
          </p:nvPr>
        </p:nvSpPr>
        <p:spPr>
          <a:xfrm>
            <a:off x="644772"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8"/>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7" name="Google Shape;117;p18"/>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8"/>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19"/>
          <p:cNvSpPr txBox="1"/>
          <p:nvPr>
            <p:ph type="title"/>
          </p:nvPr>
        </p:nvSpPr>
        <p:spPr>
          <a:xfrm>
            <a:off x="644771" y="365125"/>
            <a:ext cx="10709031"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9"/>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22" name="Shape 122"/>
        <p:cNvGrpSpPr/>
        <p:nvPr/>
      </p:nvGrpSpPr>
      <p:grpSpPr>
        <a:xfrm>
          <a:off x="0" y="0"/>
          <a:ext cx="0" cy="0"/>
          <a:chOff x="0" y="0"/>
          <a:chExt cx="0" cy="0"/>
        </a:xfrm>
      </p:grpSpPr>
      <p:sp>
        <p:nvSpPr>
          <p:cNvPr id="123" name="Google Shape;123;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4" name="Shape 124"/>
        <p:cNvGrpSpPr/>
        <p:nvPr/>
      </p:nvGrpSpPr>
      <p:grpSpPr>
        <a:xfrm>
          <a:off x="0" y="0"/>
          <a:ext cx="0" cy="0"/>
          <a:chOff x="0" y="0"/>
          <a:chExt cx="0" cy="0"/>
        </a:xfrm>
      </p:grpSpPr>
      <p:sp>
        <p:nvSpPr>
          <p:cNvPr id="125" name="Google Shape;125;p21"/>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
        <p:nvSpPr>
          <p:cNvPr id="126" name="Google Shape;126;p21"/>
          <p:cNvSpPr txBox="1"/>
          <p:nvPr>
            <p:ph idx="1" type="body"/>
          </p:nvPr>
        </p:nvSpPr>
        <p:spPr>
          <a:xfrm>
            <a:off x="5183188" y="987428"/>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SzPts val="3200"/>
              <a:buChar char="▪"/>
              <a:defRPr sz="3200"/>
            </a:lvl1pPr>
            <a:lvl2pPr indent="-406400" lvl="1" marL="914400" algn="l">
              <a:lnSpc>
                <a:spcPct val="90000"/>
              </a:lnSpc>
              <a:spcBef>
                <a:spcPts val="500"/>
              </a:spcBef>
              <a:spcAft>
                <a:spcPts val="0"/>
              </a:spcAft>
              <a:buSzPts val="2800"/>
              <a:buChar char="-"/>
              <a:defRPr sz="2800"/>
            </a:lvl2pPr>
            <a:lvl3pPr indent="-381000" lvl="2" marL="1371600" algn="l">
              <a:lnSpc>
                <a:spcPct val="90000"/>
              </a:lnSpc>
              <a:spcBef>
                <a:spcPts val="500"/>
              </a:spcBef>
              <a:spcAft>
                <a:spcPts val="0"/>
              </a:spcAft>
              <a:buSzPts val="2400"/>
              <a:buChar char="-"/>
              <a:defRPr sz="2400"/>
            </a:lvl3pPr>
            <a:lvl4pPr indent="-355600" lvl="3" marL="1828800" algn="l">
              <a:lnSpc>
                <a:spcPct val="90000"/>
              </a:lnSpc>
              <a:spcBef>
                <a:spcPts val="500"/>
              </a:spcBef>
              <a:spcAft>
                <a:spcPts val="0"/>
              </a:spcAft>
              <a:buSzPts val="2000"/>
              <a:buChar char="-"/>
              <a:defRPr sz="2000"/>
            </a:lvl4pPr>
            <a:lvl5pPr indent="-355600" lvl="4" marL="2286000" algn="l">
              <a:lnSpc>
                <a:spcPct val="90000"/>
              </a:lnSpc>
              <a:spcBef>
                <a:spcPts val="5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7" name="Google Shape;127;p21"/>
          <p:cNvSpPr txBox="1"/>
          <p:nvPr>
            <p:ph idx="2" type="body"/>
          </p:nvPr>
        </p:nvSpPr>
        <p:spPr>
          <a:xfrm>
            <a:off x="644773" y="2057402"/>
            <a:ext cx="412725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8" name="Google Shape;128;p21"/>
          <p:cNvSpPr txBox="1"/>
          <p:nvPr>
            <p:ph type="title"/>
          </p:nvPr>
        </p:nvSpPr>
        <p:spPr>
          <a:xfrm>
            <a:off x="644773" y="457200"/>
            <a:ext cx="4127255"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aira Condensed SemiBol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9" name="Shape 129"/>
        <p:cNvGrpSpPr/>
        <p:nvPr/>
      </p:nvGrpSpPr>
      <p:grpSpPr>
        <a:xfrm>
          <a:off x="0" y="0"/>
          <a:ext cx="0" cy="0"/>
          <a:chOff x="0" y="0"/>
          <a:chExt cx="0" cy="0"/>
        </a:xfrm>
      </p:grpSpPr>
      <p:sp>
        <p:nvSpPr>
          <p:cNvPr id="130" name="Google Shape;130;p22"/>
          <p:cNvSpPr txBox="1"/>
          <p:nvPr>
            <p:ph type="title"/>
          </p:nvPr>
        </p:nvSpPr>
        <p:spPr>
          <a:xfrm>
            <a:off x="644773" y="457200"/>
            <a:ext cx="4127255"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aira Condensed SemiBol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2"/>
          <p:cNvSpPr txBox="1"/>
          <p:nvPr>
            <p:ph idx="1" type="body"/>
          </p:nvPr>
        </p:nvSpPr>
        <p:spPr>
          <a:xfrm>
            <a:off x="644773" y="2057402"/>
            <a:ext cx="412725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2" name="Google Shape;132;p22"/>
          <p:cNvSpPr/>
          <p:nvPr>
            <p:ph idx="2" type="pic"/>
          </p:nvPr>
        </p:nvSpPr>
        <p:spPr>
          <a:xfrm>
            <a:off x="5183188" y="987428"/>
            <a:ext cx="6172200" cy="4873625"/>
          </a:xfrm>
          <a:prstGeom prst="rect">
            <a:avLst/>
          </a:prstGeom>
          <a:noFill/>
          <a:ln>
            <a:noFill/>
          </a:ln>
        </p:spPr>
      </p:sp>
      <p:sp>
        <p:nvSpPr>
          <p:cNvPr id="133" name="Google Shape;133;p22"/>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n-US"/>
              <a:t>‹#›</a:t>
            </a:fld>
            <a:endParaRPr b="1" i="0" sz="1200" u="none" cap="none" strike="noStrike">
              <a:solidFill>
                <a:schemeClr val="accent1"/>
              </a:solidFill>
              <a:latin typeface="IBM Plex Sans"/>
              <a:ea typeface="IBM Plex Sans"/>
              <a:cs typeface="IBM Plex Sans"/>
              <a:sym typeface="IBM Plex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23"/>
          <p:cNvSpPr txBox="1"/>
          <p:nvPr>
            <p:ph type="title"/>
          </p:nvPr>
        </p:nvSpPr>
        <p:spPr>
          <a:xfrm>
            <a:off x="644771" y="365125"/>
            <a:ext cx="10709031"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3"/>
          <p:cNvSpPr txBox="1"/>
          <p:nvPr>
            <p:ph idx="1" type="body"/>
          </p:nvPr>
        </p:nvSpPr>
        <p:spPr>
          <a:xfrm rot="5400000">
            <a:off x="3881699" y="-1411302"/>
            <a:ext cx="4235176" cy="1070903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24"/>
          <p:cNvSpPr txBox="1"/>
          <p:nvPr>
            <p:ph type="title"/>
          </p:nvPr>
        </p:nvSpPr>
        <p:spPr>
          <a:xfrm rot="5400000">
            <a:off x="7133433" y="1956597"/>
            <a:ext cx="5811839" cy="26289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4"/>
          <p:cNvSpPr txBox="1"/>
          <p:nvPr>
            <p:ph idx="1" type="body"/>
          </p:nvPr>
        </p:nvSpPr>
        <p:spPr>
          <a:xfrm rot="5400000">
            <a:off x="1702715" y="-692819"/>
            <a:ext cx="5811839" cy="792773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11" name="Google Shape;11;p1"/>
          <p:cNvSpPr txBox="1"/>
          <p:nvPr>
            <p:ph type="title"/>
          </p:nvPr>
        </p:nvSpPr>
        <p:spPr>
          <a:xfrm>
            <a:off x="644771" y="365125"/>
            <a:ext cx="10709031" cy="132556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Saira Condensed SemiBold"/>
              <a:buNone/>
              <a:defRPr b="1" i="0" sz="4000" u="none" cap="none" strike="noStrike">
                <a:solidFill>
                  <a:schemeClr val="dk1"/>
                </a:solidFill>
                <a:latin typeface="Saira Condensed SemiBold"/>
                <a:ea typeface="Saira Condensed SemiBold"/>
                <a:cs typeface="Saira Condensed SemiBold"/>
                <a:sym typeface="Saira Condensed Semi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
          <p:cNvSpPr txBox="1"/>
          <p:nvPr>
            <p:ph idx="1" type="body"/>
          </p:nvPr>
        </p:nvSpPr>
        <p:spPr>
          <a:xfrm>
            <a:off x="644771" y="1825625"/>
            <a:ext cx="10709031" cy="4235176"/>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accent4"/>
              </a:buClr>
              <a:buSzPts val="1800"/>
              <a:buFont typeface="Noto Sans Symbols"/>
              <a:buChar char="▪"/>
              <a:defRPr b="0" i="0" sz="1800" u="none" cap="none" strike="noStrike">
                <a:solidFill>
                  <a:schemeClr val="dk1"/>
                </a:solidFill>
                <a:latin typeface="IBM Plex Sans"/>
                <a:ea typeface="IBM Plex Sans"/>
                <a:cs typeface="IBM Plex Sans"/>
                <a:sym typeface="IBM Plex Sans"/>
              </a:defRPr>
            </a:lvl1pPr>
            <a:lvl2pPr indent="-342900" lvl="1" marL="914400" marR="0" rtl="0" algn="l">
              <a:lnSpc>
                <a:spcPct val="90000"/>
              </a:lnSpc>
              <a:spcBef>
                <a:spcPts val="500"/>
              </a:spcBef>
              <a:spcAft>
                <a:spcPts val="0"/>
              </a:spcAft>
              <a:buClr>
                <a:schemeClr val="accent4"/>
              </a:buClr>
              <a:buSzPts val="1800"/>
              <a:buFont typeface="NTR"/>
              <a:buChar char="-"/>
              <a:defRPr b="0" i="0" sz="1800" u="none" cap="none" strike="noStrike">
                <a:solidFill>
                  <a:schemeClr val="dk1"/>
                </a:solidFill>
                <a:latin typeface="IBM Plex Sans"/>
                <a:ea typeface="IBM Plex Sans"/>
                <a:cs typeface="IBM Plex Sans"/>
                <a:sym typeface="IBM Plex Sans"/>
              </a:defRPr>
            </a:lvl2pPr>
            <a:lvl3pPr indent="-330200" lvl="2" marL="1371600" marR="0" rtl="0" algn="l">
              <a:lnSpc>
                <a:spcPct val="90000"/>
              </a:lnSpc>
              <a:spcBef>
                <a:spcPts val="500"/>
              </a:spcBef>
              <a:spcAft>
                <a:spcPts val="0"/>
              </a:spcAft>
              <a:buClr>
                <a:schemeClr val="accent4"/>
              </a:buClr>
              <a:buSzPts val="1600"/>
              <a:buFont typeface="NTR"/>
              <a:buChar char="-"/>
              <a:defRPr b="0" i="0" sz="1600" u="none" cap="none" strike="noStrike">
                <a:solidFill>
                  <a:schemeClr val="dk1"/>
                </a:solidFill>
                <a:latin typeface="IBM Plex Sans"/>
                <a:ea typeface="IBM Plex Sans"/>
                <a:cs typeface="IBM Plex Sans"/>
                <a:sym typeface="IBM Plex Sans"/>
              </a:defRPr>
            </a:lvl3pPr>
            <a:lvl4pPr indent="-330200" lvl="3" marL="1828800" marR="0" rtl="0" algn="l">
              <a:lnSpc>
                <a:spcPct val="90000"/>
              </a:lnSpc>
              <a:spcBef>
                <a:spcPts val="500"/>
              </a:spcBef>
              <a:spcAft>
                <a:spcPts val="0"/>
              </a:spcAft>
              <a:buClr>
                <a:schemeClr val="accent4"/>
              </a:buClr>
              <a:buSzPts val="1600"/>
              <a:buFont typeface="NTR"/>
              <a:buChar char="-"/>
              <a:defRPr b="0" i="0" sz="1600" u="none" cap="none" strike="noStrike">
                <a:solidFill>
                  <a:schemeClr val="dk1"/>
                </a:solidFill>
                <a:latin typeface="IBM Plex Sans"/>
                <a:ea typeface="IBM Plex Sans"/>
                <a:cs typeface="IBM Plex Sans"/>
                <a:sym typeface="IBM Plex Sans"/>
              </a:defRPr>
            </a:lvl4pPr>
            <a:lvl5pPr indent="-317500" lvl="4" marL="2286000" marR="0" rtl="0" algn="l">
              <a:lnSpc>
                <a:spcPct val="90000"/>
              </a:lnSpc>
              <a:spcBef>
                <a:spcPts val="500"/>
              </a:spcBef>
              <a:spcAft>
                <a:spcPts val="0"/>
              </a:spcAft>
              <a:buClr>
                <a:schemeClr val="accent4"/>
              </a:buClr>
              <a:buSzPts val="1400"/>
              <a:buFont typeface="NTR"/>
              <a:buChar char="-"/>
              <a:defRPr b="0" i="0" sz="1400" u="none" cap="none" strike="noStrike">
                <a:solidFill>
                  <a:schemeClr val="dk1"/>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9375913" y="627684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accen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ctrTitle"/>
          </p:nvPr>
        </p:nvSpPr>
        <p:spPr>
          <a:xfrm>
            <a:off x="4249881" y="2504921"/>
            <a:ext cx="7280733" cy="2061531"/>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lt1"/>
              </a:buClr>
              <a:buSzPts val="5400"/>
              <a:buFont typeface="Saira Condensed Light"/>
              <a:buNone/>
            </a:pPr>
            <a:r>
              <a:rPr b="0" i="0" lang="en-US" sz="5400">
                <a:solidFill>
                  <a:schemeClr val="lt1"/>
                </a:solidFill>
                <a:latin typeface="Saira Condensed Light"/>
                <a:ea typeface="Saira Condensed Light"/>
                <a:cs typeface="Saira Condensed Light"/>
                <a:sym typeface="Saira Condensed Light"/>
              </a:rPr>
              <a:t>ASC Violation Datasets</a:t>
            </a:r>
            <a:endParaRPr/>
          </a:p>
        </p:txBody>
      </p:sp>
      <p:sp>
        <p:nvSpPr>
          <p:cNvPr id="146" name="Google Shape;146;p25"/>
          <p:cNvSpPr txBox="1"/>
          <p:nvPr>
            <p:ph idx="1" type="subTitle"/>
          </p:nvPr>
        </p:nvSpPr>
        <p:spPr>
          <a:xfrm>
            <a:off x="4488873" y="4591369"/>
            <a:ext cx="7041742" cy="934635"/>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SzPts val="2000"/>
              <a:buNone/>
            </a:pPr>
            <a:r>
              <a:t/>
            </a:r>
            <a:endParaRPr/>
          </a:p>
        </p:txBody>
      </p:sp>
      <p:sp>
        <p:nvSpPr>
          <p:cNvPr id="147" name="Google Shape;147;p25"/>
          <p:cNvSpPr txBox="1"/>
          <p:nvPr>
            <p:ph idx="2" type="body"/>
          </p:nvPr>
        </p:nvSpPr>
        <p:spPr>
          <a:xfrm>
            <a:off x="4675910" y="5690085"/>
            <a:ext cx="6854708" cy="42250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26"/>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Simple Task Performance</a:t>
            </a:r>
            <a:endParaRPr/>
          </a:p>
        </p:txBody>
      </p:sp>
      <p:sp>
        <p:nvSpPr>
          <p:cNvPr id="154" name="Google Shape;154;p26"/>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Binary classification with one specified accounting rule</a:t>
            </a:r>
            <a:endParaRPr/>
          </a:p>
        </p:txBody>
      </p:sp>
      <p:sp>
        <p:nvSpPr>
          <p:cNvPr id="155" name="Google Shape;155;p26"/>
          <p:cNvSpPr/>
          <p:nvPr/>
        </p:nvSpPr>
        <p:spPr>
          <a:xfrm>
            <a:off x="742950" y="1905000"/>
            <a:ext cx="4191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rgbClr val="A32638"/>
                </a:solidFill>
                <a:latin typeface="Arial"/>
                <a:ea typeface="Arial"/>
                <a:cs typeface="Arial"/>
                <a:sym typeface="Arial"/>
              </a:rPr>
              <a:t>85.68%</a:t>
            </a:r>
            <a:endParaRPr/>
          </a:p>
        </p:txBody>
      </p:sp>
      <p:sp>
        <p:nvSpPr>
          <p:cNvPr id="156" name="Google Shape;156;p26"/>
          <p:cNvSpPr/>
          <p:nvPr/>
        </p:nvSpPr>
        <p:spPr>
          <a:xfrm>
            <a:off x="742950" y="2762250"/>
            <a:ext cx="41910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03B43"/>
                </a:solidFill>
                <a:latin typeface="Arial"/>
                <a:ea typeface="Arial"/>
                <a:cs typeface="Arial"/>
                <a:sym typeface="Arial"/>
              </a:rPr>
              <a:t>Accuracy</a:t>
            </a:r>
            <a:endParaRPr/>
          </a:p>
        </p:txBody>
      </p:sp>
      <p:sp>
        <p:nvSpPr>
          <p:cNvPr id="157" name="Google Shape;157;p26"/>
          <p:cNvSpPr/>
          <p:nvPr/>
        </p:nvSpPr>
        <p:spPr>
          <a:xfrm>
            <a:off x="742950" y="3438525"/>
            <a:ext cx="447675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303B43"/>
                </a:solidFill>
                <a:latin typeface="Arial"/>
                <a:ea typeface="Arial"/>
                <a:cs typeface="Arial"/>
                <a:sym typeface="Arial"/>
              </a:rPr>
              <a:t>8,801 samples   /   50 rules</a:t>
            </a:r>
            <a:endParaRPr/>
          </a:p>
        </p:txBody>
      </p:sp>
      <p:sp>
        <p:nvSpPr>
          <p:cNvPr id="158" name="Google Shape;158;p26"/>
          <p:cNvSpPr/>
          <p:nvPr/>
        </p:nvSpPr>
        <p:spPr>
          <a:xfrm>
            <a:off x="742950" y="3962400"/>
            <a:ext cx="4191000"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03B43"/>
                </a:solidFill>
                <a:latin typeface="Arial"/>
                <a:ea typeface="Arial"/>
                <a:cs typeface="Arial"/>
                <a:sym typeface="Arial"/>
              </a:rPr>
              <a:t>4,353 violation</a:t>
            </a:r>
            <a:endParaRPr/>
          </a:p>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03B43"/>
                </a:solidFill>
                <a:latin typeface="Arial"/>
                <a:ea typeface="Arial"/>
                <a:cs typeface="Arial"/>
                <a:sym typeface="Arial"/>
              </a:rPr>
              <a:t>4,448 no violation</a:t>
            </a:r>
            <a:endParaRPr/>
          </a:p>
        </p:txBody>
      </p:sp>
      <p:graphicFrame>
        <p:nvGraphicFramePr>
          <p:cNvPr id="159" name="Google Shape;159;p26"/>
          <p:cNvGraphicFramePr/>
          <p:nvPr/>
        </p:nvGraphicFramePr>
        <p:xfrm>
          <a:off x="5476875" y="2028825"/>
          <a:ext cx="3000000" cy="3000000"/>
        </p:xfrm>
        <a:graphic>
          <a:graphicData uri="http://schemas.openxmlformats.org/drawingml/2006/table">
            <a:tbl>
              <a:tblPr>
                <a:noFill/>
                <a:tableStyleId>{E32F54AA-CAC8-429B-AED7-B94679055F58}</a:tableStyleId>
              </a:tblPr>
              <a:tblGrid>
                <a:gridCol w="1905000"/>
                <a:gridCol w="1333500"/>
                <a:gridCol w="1333500"/>
                <a:gridCol w="1333500"/>
              </a:tblGrid>
              <a:tr h="647700">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Class</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Precision</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Recall</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64770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Violation</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86.13%</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84.39%</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85.25%</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64770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No violation</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85.27%</a:t>
                      </a:r>
                      <a:endParaRPr/>
                    </a:p>
                  </a:txBody>
                  <a:tcPr marT="45725" marB="45725" marR="91450" marL="91450">
                    <a:lnB cap="flat" cmpd="sng" w="9525">
                      <a:solidFill>
                        <a:srgbClr val="DEDADD"/>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86.92%</a:t>
                      </a:r>
                      <a:endParaRPr/>
                    </a:p>
                  </a:txBody>
                  <a:tcPr marT="45725" marB="45725" marR="91450" marL="91450">
                    <a:lnB cap="flat" cmpd="sng" w="9525">
                      <a:solidFill>
                        <a:srgbClr val="DEDADD"/>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86.09%</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5F5F5"/>
                    </a:solidFill>
                  </a:tcPr>
                </a:tc>
              </a:tr>
            </a:tbl>
          </a:graphicData>
        </a:graphic>
      </p:graphicFrame>
      <p:sp>
        <p:nvSpPr>
          <p:cNvPr id="160" name="Google Shape;160;p26"/>
          <p:cNvSpPr/>
          <p:nvPr/>
        </p:nvSpPr>
        <p:spPr>
          <a:xfrm>
            <a:off x="5619750" y="4343400"/>
            <a:ext cx="5619750" cy="819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Arial"/>
              <a:buNone/>
            </a:pPr>
            <a:r>
              <a:rPr b="0" i="0" lang="en-US" sz="2025" u="none" cap="none" strike="noStrike">
                <a:solidFill>
                  <a:srgbClr val="303B43"/>
                </a:solidFill>
                <a:latin typeface="Arial"/>
                <a:ea typeface="Arial"/>
                <a:cs typeface="Arial"/>
                <a:sym typeface="Arial"/>
              </a:rPr>
              <a:t>Macro F1  85.67%</a:t>
            </a:r>
            <a:endParaRPr/>
          </a:p>
          <a:p>
            <a:pPr indent="0" lvl="0" marL="0" marR="0" rtl="0" algn="l">
              <a:lnSpc>
                <a:spcPct val="100000"/>
              </a:lnSpc>
              <a:spcBef>
                <a:spcPts val="0"/>
              </a:spcBef>
              <a:spcAft>
                <a:spcPts val="0"/>
              </a:spcAft>
              <a:buClr>
                <a:srgbClr val="000000"/>
              </a:buClr>
              <a:buSzPts val="2025"/>
              <a:buFont typeface="Arial"/>
              <a:buNone/>
            </a:pPr>
            <a:r>
              <a:rPr b="0" i="0" lang="en-US" sz="2025" u="none" cap="none" strike="noStrike">
                <a:solidFill>
                  <a:srgbClr val="303B43"/>
                </a:solidFill>
                <a:latin typeface="Arial"/>
                <a:ea typeface="Arial"/>
                <a:cs typeface="Arial"/>
                <a:sym typeface="Arial"/>
              </a:rPr>
              <a:t>Balanced accuracy  85.66%</a:t>
            </a:r>
            <a:endParaRPr/>
          </a:p>
        </p:txBody>
      </p:sp>
      <p:sp>
        <p:nvSpPr>
          <p:cNvPr id="161" name="Google Shape;161;p26"/>
          <p:cNvSpPr/>
          <p:nvPr/>
        </p:nvSpPr>
        <p:spPr>
          <a:xfrm>
            <a:off x="742950" y="5734050"/>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626B72"/>
                </a:solidFill>
                <a:latin typeface="Arial"/>
                <a:ea typeface="Arial"/>
                <a:cs typeface="Arial"/>
                <a:sym typeface="Arial"/>
              </a:rPr>
              <a:t>8,613 valid predictions, 7,380 correct. 188 failures excluded.</a:t>
            </a:r>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626B72"/>
                </a:solidFill>
                <a:latin typeface="Arial"/>
                <a:ea typeface="Arial"/>
                <a:cs typeface="Arial"/>
                <a:sym typeface="Arial"/>
              </a:rPr>
              <a:t>Full-set accuracy, counting failures as incorrect: 83.85%.</a:t>
            </a:r>
            <a:endParaRPr/>
          </a:p>
        </p:txBody>
      </p:sp>
      <p:sp>
        <p:nvSpPr>
          <p:cNvPr id="162" name="Google Shape;162;p26"/>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Simple: Baseline Comparison</a:t>
            </a:r>
            <a:endParaRPr/>
          </a:p>
        </p:txBody>
      </p:sp>
      <p:sp>
        <p:nvSpPr>
          <p:cNvPr id="169" name="Google Shape;169;p27"/>
          <p:cNvSpPr/>
          <p:nvPr/>
        </p:nvSpPr>
        <p:spPr>
          <a:xfrm>
            <a:off x="742950" y="1133475"/>
            <a:ext cx="105727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Model performance on the same task and evaluation set</a:t>
            </a:r>
            <a:endParaRPr/>
          </a:p>
        </p:txBody>
      </p:sp>
      <p:graphicFrame>
        <p:nvGraphicFramePr>
          <p:cNvPr id="170" name="Google Shape;170;p27"/>
          <p:cNvGraphicFramePr/>
          <p:nvPr/>
        </p:nvGraphicFramePr>
        <p:xfrm>
          <a:off x="723900" y="2228850"/>
          <a:ext cx="3000000" cy="3000000"/>
        </p:xfrm>
        <a:graphic>
          <a:graphicData uri="http://schemas.openxmlformats.org/drawingml/2006/table">
            <a:tbl>
              <a:tblPr>
                <a:noFill/>
                <a:tableStyleId>{E32F54AA-CAC8-429B-AED7-B94679055F58}</a:tableStyleId>
              </a:tblPr>
              <a:tblGrid>
                <a:gridCol w="3143250"/>
                <a:gridCol w="1905000"/>
                <a:gridCol w="1905000"/>
                <a:gridCol w="1905000"/>
                <a:gridCol w="1905000"/>
              </a:tblGrid>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Baseline</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Accuracy</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Precision</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Recall</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DeepSeek V4 Flash</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82.72%</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81.36%</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86.33%</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84.27%</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ChatGPT 5.5</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85.68%</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85.70%</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85.66%</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85.67%</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Qwen 8B</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62.35%</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63.44%</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61.24%</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62.33%</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171" name="Google Shape;171;p27"/>
          <p:cNvSpPr/>
          <p:nvPr/>
        </p:nvSpPr>
        <p:spPr>
          <a:xfrm>
            <a:off x="742950" y="5572125"/>
            <a:ext cx="106680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626B72"/>
                </a:solidFill>
                <a:latin typeface="Arial"/>
                <a:ea typeface="Arial"/>
                <a:cs typeface="Arial"/>
                <a:sym typeface="Arial"/>
              </a:rPr>
              <a:t>Precision, recall and F1 use the violation class. All values are percentages.</a:t>
            </a:r>
            <a:endParaRPr/>
          </a:p>
        </p:txBody>
      </p:sp>
      <p:sp>
        <p:nvSpPr>
          <p:cNvPr id="172" name="Google Shape;172;p27"/>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Medium Task Performance</a:t>
            </a:r>
            <a:endParaRPr/>
          </a:p>
        </p:txBody>
      </p:sp>
      <p:sp>
        <p:nvSpPr>
          <p:cNvPr id="179" name="Google Shape;179;p28"/>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Identify one violated rule, or no violation, from the statement and candidate rules</a:t>
            </a:r>
            <a:endParaRPr/>
          </a:p>
        </p:txBody>
      </p:sp>
      <p:sp>
        <p:nvSpPr>
          <p:cNvPr id="180" name="Google Shape;180;p28"/>
          <p:cNvSpPr/>
          <p:nvPr/>
        </p:nvSpPr>
        <p:spPr>
          <a:xfrm>
            <a:off x="742950" y="1905000"/>
            <a:ext cx="4191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rgbClr val="A32638"/>
                </a:solidFill>
                <a:latin typeface="Arial"/>
                <a:ea typeface="Arial"/>
                <a:cs typeface="Arial"/>
                <a:sym typeface="Arial"/>
              </a:rPr>
              <a:t>78.59%</a:t>
            </a:r>
            <a:endParaRPr/>
          </a:p>
        </p:txBody>
      </p:sp>
      <p:sp>
        <p:nvSpPr>
          <p:cNvPr id="181" name="Google Shape;181;p28"/>
          <p:cNvSpPr/>
          <p:nvPr/>
        </p:nvSpPr>
        <p:spPr>
          <a:xfrm>
            <a:off x="742950" y="2762250"/>
            <a:ext cx="41910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03B43"/>
                </a:solidFill>
                <a:latin typeface="Arial"/>
                <a:ea typeface="Arial"/>
                <a:cs typeface="Arial"/>
                <a:sym typeface="Arial"/>
              </a:rPr>
              <a:t>ChatGPT accuracy</a:t>
            </a:r>
            <a:endParaRPr/>
          </a:p>
        </p:txBody>
      </p:sp>
      <p:sp>
        <p:nvSpPr>
          <p:cNvPr id="182" name="Google Shape;182;p28"/>
          <p:cNvSpPr/>
          <p:nvPr/>
        </p:nvSpPr>
        <p:spPr>
          <a:xfrm>
            <a:off x="742950" y="3429000"/>
            <a:ext cx="447675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Arial"/>
              <a:buNone/>
            </a:pPr>
            <a:r>
              <a:rPr b="1" i="0" lang="en-US" sz="2025" u="none" cap="none" strike="noStrike">
                <a:solidFill>
                  <a:srgbClr val="303B43"/>
                </a:solidFill>
                <a:latin typeface="Arial"/>
                <a:ea typeface="Arial"/>
                <a:cs typeface="Arial"/>
                <a:sym typeface="Arial"/>
              </a:rPr>
              <a:t>74.81%  DeepSeek accuracy</a:t>
            </a:r>
            <a:endParaRPr/>
          </a:p>
        </p:txBody>
      </p:sp>
      <p:sp>
        <p:nvSpPr>
          <p:cNvPr id="183" name="Google Shape;183;p28"/>
          <p:cNvSpPr/>
          <p:nvPr/>
        </p:nvSpPr>
        <p:spPr>
          <a:xfrm>
            <a:off x="742950" y="4057650"/>
            <a:ext cx="4476750"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03B43"/>
                </a:solidFill>
                <a:latin typeface="Arial"/>
                <a:ea typeface="Arial"/>
                <a:cs typeface="Arial"/>
                <a:sym typeface="Arial"/>
              </a:rPr>
              <a:t>4,909 samples</a:t>
            </a:r>
            <a:endParaRPr/>
          </a:p>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03B43"/>
                </a:solidFill>
                <a:latin typeface="Arial"/>
                <a:ea typeface="Arial"/>
                <a:cs typeface="Arial"/>
                <a:sym typeface="Arial"/>
              </a:rPr>
              <a:t>4,140 violation / 769 no violation</a:t>
            </a:r>
            <a:endParaRPr/>
          </a:p>
        </p:txBody>
      </p:sp>
      <p:sp>
        <p:nvSpPr>
          <p:cNvPr id="184" name="Google Shape;184;p28"/>
          <p:cNvSpPr/>
          <p:nvPr/>
        </p:nvSpPr>
        <p:spPr>
          <a:xfrm>
            <a:off x="742950" y="5133975"/>
            <a:ext cx="4476750" cy="666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49 rules across the catalog</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8, 13 or 15 candidates per sample</a:t>
            </a:r>
            <a:endParaRPr/>
          </a:p>
        </p:txBody>
      </p:sp>
      <p:graphicFrame>
        <p:nvGraphicFramePr>
          <p:cNvPr id="185" name="Google Shape;185;p28"/>
          <p:cNvGraphicFramePr/>
          <p:nvPr/>
        </p:nvGraphicFramePr>
        <p:xfrm>
          <a:off x="5467350" y="1924050"/>
          <a:ext cx="3000000" cy="3000000"/>
        </p:xfrm>
        <a:graphic>
          <a:graphicData uri="http://schemas.openxmlformats.org/drawingml/2006/table">
            <a:tbl>
              <a:tblPr>
                <a:noFill/>
                <a:tableStyleId>{E32F54AA-CAC8-429B-AED7-B94679055F58}</a:tableStyleId>
              </a:tblPr>
              <a:tblGrid>
                <a:gridCol w="2066925"/>
                <a:gridCol w="1238250"/>
                <a:gridCol w="1238250"/>
                <a:gridCol w="1409700"/>
              </a:tblGrid>
              <a:tr h="579450">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Statement</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Samples</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Correct</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Accuracy</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57945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Balance sheet</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1,410</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1,192</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84.56%</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57945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Cash flow</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1,372</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1,102</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80.30%</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57945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Income</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1,301</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924</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70.99%</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57945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Equity</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826</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640</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77.44%</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57945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Overall</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4,909</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3,858</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78.59%</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186" name="Google Shape;186;p28"/>
          <p:cNvSpPr/>
          <p:nvPr/>
        </p:nvSpPr>
        <p:spPr>
          <a:xfrm>
            <a:off x="5619750" y="5648325"/>
            <a:ext cx="571500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25"/>
              <a:buFont typeface="Arial"/>
              <a:buNone/>
            </a:pPr>
            <a:r>
              <a:rPr b="0" i="0" lang="en-US" sz="1725" u="none" cap="none" strike="noStrike">
                <a:solidFill>
                  <a:srgbClr val="626B72"/>
                </a:solidFill>
                <a:latin typeface="Arial"/>
                <a:ea typeface="Arial"/>
                <a:cs typeface="Arial"/>
                <a:sym typeface="Arial"/>
              </a:rPr>
              <a:t>Highest accuracy: balance sheet</a:t>
            </a:r>
            <a:endParaRPr/>
          </a:p>
          <a:p>
            <a:pPr indent="0" lvl="0" marL="0" marR="0" rtl="0" algn="l">
              <a:lnSpc>
                <a:spcPct val="100000"/>
              </a:lnSpc>
              <a:spcBef>
                <a:spcPts val="0"/>
              </a:spcBef>
              <a:spcAft>
                <a:spcPts val="0"/>
              </a:spcAft>
              <a:buClr>
                <a:srgbClr val="000000"/>
              </a:buClr>
              <a:buSzPts val="1725"/>
              <a:buFont typeface="Arial"/>
              <a:buNone/>
            </a:pPr>
            <a:r>
              <a:rPr b="0" i="0" lang="en-US" sz="1725" u="none" cap="none" strike="noStrike">
                <a:solidFill>
                  <a:srgbClr val="626B72"/>
                </a:solidFill>
                <a:latin typeface="Arial"/>
                <a:ea typeface="Arial"/>
                <a:cs typeface="Arial"/>
                <a:sym typeface="Arial"/>
              </a:rPr>
              <a:t>Lowest accuracy: income statement</a:t>
            </a:r>
            <a:endParaRPr/>
          </a:p>
        </p:txBody>
      </p:sp>
      <p:sp>
        <p:nvSpPr>
          <p:cNvPr id="187" name="Google Shape;187;p28"/>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Medium: Performance by Statement</a:t>
            </a:r>
            <a:endParaRPr/>
          </a:p>
        </p:txBody>
      </p:sp>
      <p:sp>
        <p:nvSpPr>
          <p:cNvPr id="194" name="Google Shape;194;p29"/>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Macro scores give each rule equal weight</a:t>
            </a:r>
            <a:endParaRPr/>
          </a:p>
        </p:txBody>
      </p:sp>
      <p:pic>
        <p:nvPicPr>
          <p:cNvPr id="195" name="Google Shape;195;p29"/>
          <p:cNvPicPr preferRelativeResize="0"/>
          <p:nvPr/>
        </p:nvPicPr>
        <p:blipFill rotWithShape="1">
          <a:blip r:embed="rId3">
            <a:alphaModFix/>
          </a:blip>
          <a:srcRect b="0" l="0" r="0" t="0"/>
          <a:stretch/>
        </p:blipFill>
        <p:spPr>
          <a:xfrm>
            <a:off x="714375" y="1905000"/>
            <a:ext cx="6191250" cy="3619500"/>
          </a:xfrm>
          <a:prstGeom prst="rect">
            <a:avLst/>
          </a:prstGeom>
          <a:noFill/>
          <a:ln>
            <a:noFill/>
          </a:ln>
        </p:spPr>
      </p:pic>
      <p:graphicFrame>
        <p:nvGraphicFramePr>
          <p:cNvPr id="196" name="Google Shape;196;p29"/>
          <p:cNvGraphicFramePr/>
          <p:nvPr/>
        </p:nvGraphicFramePr>
        <p:xfrm>
          <a:off x="7334250" y="2009775"/>
          <a:ext cx="3000000" cy="3000000"/>
        </p:xfrm>
        <a:graphic>
          <a:graphicData uri="http://schemas.openxmlformats.org/drawingml/2006/table">
            <a:tbl>
              <a:tblPr>
                <a:noFill/>
                <a:tableStyleId>{E32F54AA-CAC8-429B-AED7-B94679055F58}</a:tableStyleId>
              </a:tblPr>
              <a:tblGrid>
                <a:gridCol w="1666875"/>
                <a:gridCol w="1190625"/>
                <a:gridCol w="1190625"/>
              </a:tblGrid>
              <a:tr h="544525">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strike="noStrike">
                          <a:solidFill>
                            <a:srgbClr val="FFFFFF"/>
                          </a:solidFill>
                          <a:latin typeface="Arial"/>
                          <a:ea typeface="Arial"/>
                          <a:cs typeface="Arial"/>
                          <a:sym typeface="Arial"/>
                        </a:rPr>
                        <a:t>Statement</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strike="noStrike">
                          <a:solidFill>
                            <a:srgbClr val="FFFFFF"/>
                          </a:solidFill>
                          <a:latin typeface="Arial"/>
                          <a:ea typeface="Arial"/>
                          <a:cs typeface="Arial"/>
                          <a:sym typeface="Arial"/>
                        </a:rPr>
                        <a:t>Macro P</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1" lang="en-US" sz="1575" u="none" cap="none" strike="noStrike">
                          <a:solidFill>
                            <a:srgbClr val="FFFFFF"/>
                          </a:solidFill>
                          <a:latin typeface="Arial"/>
                          <a:ea typeface="Arial"/>
                          <a:cs typeface="Arial"/>
                          <a:sym typeface="Arial"/>
                        </a:rPr>
                        <a:t>Macro R</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544525">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Balance sheet</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86.49%</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83.99%</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544525">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Cash flow</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69.70%</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68.91%</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544525">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Income</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67.31%</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64.99%</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544525">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Equity</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86.24%</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87.90%</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544525">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Overall</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77.15%</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75"/>
                        <a:buFont typeface="Arial"/>
                        <a:buNone/>
                      </a:pPr>
                      <a:r>
                        <a:rPr b="0" lang="en-US" sz="1575" u="none" cap="none" strike="noStrike">
                          <a:solidFill>
                            <a:srgbClr val="303B43"/>
                          </a:solidFill>
                          <a:latin typeface="Arial"/>
                          <a:ea typeface="Arial"/>
                          <a:cs typeface="Arial"/>
                          <a:sym typeface="Arial"/>
                        </a:rPr>
                        <a:t>76.60%</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197" name="Google Shape;197;p29"/>
          <p:cNvSpPr/>
          <p:nvPr/>
        </p:nvSpPr>
        <p:spPr>
          <a:xfrm>
            <a:off x="742950" y="5724525"/>
            <a:ext cx="10477500" cy="361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303B43"/>
                </a:solidFill>
                <a:latin typeface="Arial"/>
                <a:ea typeface="Arial"/>
                <a:cs typeface="Arial"/>
                <a:sym typeface="Arial"/>
              </a:rPr>
              <a:t>Overall macro F1  75.28%     Weighted F1  78.51%</a:t>
            </a:r>
            <a:endParaRPr/>
          </a:p>
        </p:txBody>
      </p:sp>
      <p:sp>
        <p:nvSpPr>
          <p:cNvPr id="198" name="Google Shape;198;p29"/>
          <p:cNvSpPr/>
          <p:nvPr/>
        </p:nvSpPr>
        <p:spPr>
          <a:xfrm>
            <a:off x="742950" y="6105525"/>
            <a:ext cx="104775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626B72"/>
                </a:solidFill>
                <a:latin typeface="Arial"/>
                <a:ea typeface="Arial"/>
                <a:cs typeface="Arial"/>
                <a:sym typeface="Arial"/>
              </a:rPr>
              <a:t>Weighted F1 gives more weight to rules with more ground-truth samples.</a:t>
            </a:r>
            <a:endParaRPr/>
          </a:p>
        </p:txBody>
      </p:sp>
      <p:sp>
        <p:nvSpPr>
          <p:cNvPr id="199" name="Google Shape;199;p29"/>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Medium: Baseline Comparison</a:t>
            </a:r>
            <a:endParaRPr/>
          </a:p>
        </p:txBody>
      </p:sp>
      <p:sp>
        <p:nvSpPr>
          <p:cNvPr id="206" name="Google Shape;206;p30"/>
          <p:cNvSpPr/>
          <p:nvPr/>
        </p:nvSpPr>
        <p:spPr>
          <a:xfrm>
            <a:off x="742950" y="1133475"/>
            <a:ext cx="105727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Model performance on the same task and evaluation set</a:t>
            </a:r>
            <a:endParaRPr/>
          </a:p>
        </p:txBody>
      </p:sp>
      <p:graphicFrame>
        <p:nvGraphicFramePr>
          <p:cNvPr id="207" name="Google Shape;207;p30"/>
          <p:cNvGraphicFramePr/>
          <p:nvPr/>
        </p:nvGraphicFramePr>
        <p:xfrm>
          <a:off x="723900" y="2228850"/>
          <a:ext cx="3000000" cy="3000000"/>
        </p:xfrm>
        <a:graphic>
          <a:graphicData uri="http://schemas.openxmlformats.org/drawingml/2006/table">
            <a:tbl>
              <a:tblPr>
                <a:noFill/>
                <a:tableStyleId>{E32F54AA-CAC8-429B-AED7-B94679055F58}</a:tableStyleId>
              </a:tblPr>
              <a:tblGrid>
                <a:gridCol w="2952750"/>
                <a:gridCol w="1524000"/>
                <a:gridCol w="1524000"/>
                <a:gridCol w="1524000"/>
                <a:gridCol w="1524000"/>
                <a:gridCol w="1714500"/>
              </a:tblGrid>
              <a:tr h="714375">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FFFFFF"/>
                          </a:solidFill>
                          <a:latin typeface="Arial"/>
                          <a:ea typeface="Arial"/>
                          <a:cs typeface="Arial"/>
                          <a:sym typeface="Arial"/>
                        </a:rPr>
                        <a:t>Baseline</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FFFFFF"/>
                          </a:solidFill>
                          <a:latin typeface="Arial"/>
                          <a:ea typeface="Arial"/>
                          <a:cs typeface="Arial"/>
                          <a:sym typeface="Arial"/>
                        </a:rPr>
                        <a:t>Accuracy</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FFFFFF"/>
                          </a:solidFill>
                          <a:latin typeface="Arial"/>
                          <a:ea typeface="Arial"/>
                          <a:cs typeface="Arial"/>
                          <a:sym typeface="Arial"/>
                        </a:rPr>
                        <a:t>Macro P</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FFFFFF"/>
                          </a:solidFill>
                          <a:latin typeface="Arial"/>
                          <a:ea typeface="Arial"/>
                          <a:cs typeface="Arial"/>
                          <a:sym typeface="Arial"/>
                        </a:rPr>
                        <a:t>Macro R</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FFFFFF"/>
                          </a:solidFill>
                          <a:latin typeface="Arial"/>
                          <a:ea typeface="Arial"/>
                          <a:cs typeface="Arial"/>
                          <a:sym typeface="Arial"/>
                        </a:rPr>
                        <a:t>Macro F1</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FFFFFF"/>
                          </a:solidFill>
                          <a:latin typeface="Arial"/>
                          <a:ea typeface="Arial"/>
                          <a:cs typeface="Arial"/>
                          <a:sym typeface="Arial"/>
                        </a:rPr>
                        <a:t>Weighted 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714375">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303B43"/>
                          </a:solidFill>
                          <a:latin typeface="Arial"/>
                          <a:ea typeface="Arial"/>
                          <a:cs typeface="Arial"/>
                          <a:sym typeface="Arial"/>
                        </a:rPr>
                        <a:t>DeepSeek V4 Flash</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74.42%</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75.31%</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74.19%</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73.36%</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75.35%</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714375">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303B43"/>
                          </a:solidFill>
                          <a:latin typeface="Arial"/>
                          <a:ea typeface="Arial"/>
                          <a:cs typeface="Arial"/>
                          <a:sym typeface="Arial"/>
                        </a:rPr>
                        <a:t>ChatGPT 5.5</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78.59%</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77.15%</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76.60%</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75.28%</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78.51%</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714375">
                <a:tc>
                  <a:txBody>
                    <a:bodyPr/>
                    <a:lstStyle/>
                    <a:p>
                      <a:pPr indent="0" lvl="0" marL="0" marR="0" rtl="0" algn="l">
                        <a:lnSpc>
                          <a:spcPct val="100000"/>
                        </a:lnSpc>
                        <a:spcBef>
                          <a:spcPts val="0"/>
                        </a:spcBef>
                        <a:spcAft>
                          <a:spcPts val="0"/>
                        </a:spcAft>
                        <a:buClr>
                          <a:srgbClr val="000000"/>
                        </a:buClr>
                        <a:buSzPts val="1650"/>
                        <a:buFont typeface="Arial"/>
                        <a:buNone/>
                      </a:pPr>
                      <a:r>
                        <a:rPr b="1" lang="en-US" sz="1650" u="none" cap="none" strike="noStrike">
                          <a:solidFill>
                            <a:srgbClr val="303B43"/>
                          </a:solidFill>
                          <a:latin typeface="Arial"/>
                          <a:ea typeface="Arial"/>
                          <a:cs typeface="Arial"/>
                          <a:sym typeface="Arial"/>
                        </a:rPr>
                        <a:t>Qwen 8B</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62.32%</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63.15%</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65.63%</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61.44%</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50"/>
                        <a:buFont typeface="Arial"/>
                        <a:buNone/>
                      </a:pPr>
                      <a:r>
                        <a:rPr lang="en-US" sz="1650">
                          <a:solidFill>
                            <a:srgbClr val="303B43"/>
                          </a:solidFill>
                        </a:rPr>
                        <a:t>65.44%</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208" name="Google Shape;208;p30"/>
          <p:cNvSpPr/>
          <p:nvPr/>
        </p:nvSpPr>
        <p:spPr>
          <a:xfrm>
            <a:off x="742950" y="5572125"/>
            <a:ext cx="106680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626B72"/>
                </a:solidFill>
                <a:latin typeface="Arial"/>
                <a:ea typeface="Arial"/>
                <a:cs typeface="Arial"/>
                <a:sym typeface="Arial"/>
              </a:rPr>
              <a:t>Macro scores give each class equal weight. All values are percentages.</a:t>
            </a:r>
            <a:endParaRPr/>
          </a:p>
        </p:txBody>
      </p:sp>
      <p:sp>
        <p:nvSpPr>
          <p:cNvPr id="209" name="Google Shape;209;p30"/>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Hard: Task and Dataset</a:t>
            </a:r>
            <a:endParaRPr/>
          </a:p>
        </p:txBody>
      </p:sp>
      <p:sp>
        <p:nvSpPr>
          <p:cNvPr id="216" name="Google Shape;216;p31"/>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Identify all violated rules across four financial statements</a:t>
            </a:r>
            <a:endParaRPr/>
          </a:p>
        </p:txBody>
      </p:sp>
      <p:sp>
        <p:nvSpPr>
          <p:cNvPr id="217" name="Google Shape;217;p31"/>
          <p:cNvSpPr/>
          <p:nvPr/>
        </p:nvSpPr>
        <p:spPr>
          <a:xfrm>
            <a:off x="742950" y="1943100"/>
            <a:ext cx="466725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rgbClr val="A32638"/>
                </a:solidFill>
                <a:latin typeface="Arial"/>
                <a:ea typeface="Arial"/>
                <a:cs typeface="Arial"/>
                <a:sym typeface="Arial"/>
              </a:rPr>
              <a:t>4,277</a:t>
            </a:r>
            <a:endParaRPr/>
          </a:p>
        </p:txBody>
      </p:sp>
      <p:sp>
        <p:nvSpPr>
          <p:cNvPr id="218" name="Google Shape;218;p31"/>
          <p:cNvSpPr/>
          <p:nvPr/>
        </p:nvSpPr>
        <p:spPr>
          <a:xfrm>
            <a:off x="742950" y="2800350"/>
            <a:ext cx="466725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03B43"/>
                </a:solidFill>
                <a:latin typeface="Arial"/>
                <a:ea typeface="Arial"/>
                <a:cs typeface="Arial"/>
                <a:sym typeface="Arial"/>
              </a:rPr>
              <a:t>Samples, all with violations</a:t>
            </a:r>
            <a:endParaRPr/>
          </a:p>
        </p:txBody>
      </p:sp>
      <p:sp>
        <p:nvSpPr>
          <p:cNvPr id="219" name="Google Shape;219;p31"/>
          <p:cNvSpPr/>
          <p:nvPr/>
        </p:nvSpPr>
        <p:spPr>
          <a:xfrm>
            <a:off x="742950" y="3581400"/>
            <a:ext cx="4667250" cy="857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Arial"/>
              <a:buNone/>
            </a:pPr>
            <a:r>
              <a:rPr b="1" i="0" lang="en-US" sz="2025" u="none" cap="none" strike="noStrike">
                <a:solidFill>
                  <a:srgbClr val="303B43"/>
                </a:solidFill>
                <a:latin typeface="Arial"/>
                <a:ea typeface="Arial"/>
                <a:cs typeface="Arial"/>
                <a:sym typeface="Arial"/>
              </a:rPr>
              <a:t>49 candidate rules per sample</a:t>
            </a:r>
            <a:endParaRPr/>
          </a:p>
          <a:p>
            <a:pPr indent="0" lvl="0" marL="0" marR="0" rtl="0" algn="l">
              <a:lnSpc>
                <a:spcPct val="100000"/>
              </a:lnSpc>
              <a:spcBef>
                <a:spcPts val="0"/>
              </a:spcBef>
              <a:spcAft>
                <a:spcPts val="0"/>
              </a:spcAft>
              <a:buClr>
                <a:srgbClr val="000000"/>
              </a:buClr>
              <a:buSzPts val="2025"/>
              <a:buFont typeface="Arial"/>
              <a:buNone/>
            </a:pPr>
            <a:r>
              <a:t/>
            </a:r>
            <a:endParaRPr/>
          </a:p>
        </p:txBody>
      </p:sp>
      <p:sp>
        <p:nvSpPr>
          <p:cNvPr id="220" name="Google Shape;220;p31"/>
          <p:cNvSpPr/>
          <p:nvPr/>
        </p:nvSpPr>
        <p:spPr>
          <a:xfrm>
            <a:off x="742950" y="4781550"/>
            <a:ext cx="4667250" cy="110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03B43"/>
                </a:solidFill>
                <a:latin typeface="Arial"/>
                <a:ea typeface="Arial"/>
                <a:cs typeface="Arial"/>
                <a:sym typeface="Arial"/>
              </a:rPr>
              <a:t>Candidate rule coverage</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03B43"/>
                </a:solidFill>
                <a:latin typeface="Arial"/>
                <a:ea typeface="Arial"/>
                <a:cs typeface="Arial"/>
                <a:sym typeface="Arial"/>
              </a:rPr>
              <a:t>Balance sheet 15   /   Cash flow 13</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03B43"/>
                </a:solidFill>
                <a:latin typeface="Arial"/>
                <a:ea typeface="Arial"/>
                <a:cs typeface="Arial"/>
                <a:sym typeface="Arial"/>
              </a:rPr>
              <a:t>Income 13   /   Equity 8</a:t>
            </a:r>
            <a:endParaRPr/>
          </a:p>
        </p:txBody>
      </p:sp>
      <p:pic>
        <p:nvPicPr>
          <p:cNvPr id="221" name="Google Shape;221;p31"/>
          <p:cNvPicPr preferRelativeResize="0"/>
          <p:nvPr/>
        </p:nvPicPr>
        <p:blipFill rotWithShape="1">
          <a:blip r:embed="rId3">
            <a:alphaModFix/>
          </a:blip>
          <a:srcRect b="0" l="0" r="0" t="0"/>
          <a:stretch/>
        </p:blipFill>
        <p:spPr>
          <a:xfrm>
            <a:off x="5715000" y="1866900"/>
            <a:ext cx="5810250" cy="3476625"/>
          </a:xfrm>
          <a:prstGeom prst="rect">
            <a:avLst/>
          </a:prstGeom>
          <a:noFill/>
          <a:ln>
            <a:noFill/>
          </a:ln>
        </p:spPr>
      </p:pic>
      <p:sp>
        <p:nvSpPr>
          <p:cNvPr id="222" name="Google Shape;222;p31"/>
          <p:cNvSpPr/>
          <p:nvPr/>
        </p:nvSpPr>
        <p:spPr>
          <a:xfrm>
            <a:off x="6510093" y="5343525"/>
            <a:ext cx="5334000" cy="32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0" i="0" lang="en-US" sz="1575" u="none" cap="none" strike="noStrike">
                <a:solidFill>
                  <a:srgbClr val="626B72"/>
                </a:solidFill>
                <a:latin typeface="Arial"/>
                <a:ea typeface="Arial"/>
                <a:cs typeface="Arial"/>
                <a:sym typeface="Arial"/>
              </a:rPr>
              <a:t>27.59%          25.77%            24.13%          22.52%</a:t>
            </a:r>
            <a:endParaRPr/>
          </a:p>
        </p:txBody>
      </p:sp>
      <p:sp>
        <p:nvSpPr>
          <p:cNvPr id="223" name="Google Shape;223;p31"/>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2"/>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Hard Task Performance</a:t>
            </a:r>
            <a:endParaRPr/>
          </a:p>
        </p:txBody>
      </p:sp>
      <p:sp>
        <p:nvSpPr>
          <p:cNvPr id="230" name="Google Shape;230;p32"/>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High partial coverage, but few predictions match the complete rule set</a:t>
            </a:r>
            <a:endParaRPr/>
          </a:p>
        </p:txBody>
      </p:sp>
      <p:pic>
        <p:nvPicPr>
          <p:cNvPr id="231" name="Google Shape;231;p32"/>
          <p:cNvPicPr preferRelativeResize="0"/>
          <p:nvPr/>
        </p:nvPicPr>
        <p:blipFill rotWithShape="1">
          <a:blip r:embed="rId3">
            <a:alphaModFix/>
          </a:blip>
          <a:srcRect b="0" l="0" r="0" t="0"/>
          <a:stretch/>
        </p:blipFill>
        <p:spPr>
          <a:xfrm>
            <a:off x="704850" y="1809750"/>
            <a:ext cx="6286500" cy="3581400"/>
          </a:xfrm>
          <a:prstGeom prst="rect">
            <a:avLst/>
          </a:prstGeom>
          <a:noFill/>
          <a:ln>
            <a:noFill/>
          </a:ln>
        </p:spPr>
      </p:pic>
      <p:graphicFrame>
        <p:nvGraphicFramePr>
          <p:cNvPr id="232" name="Google Shape;232;p32"/>
          <p:cNvGraphicFramePr/>
          <p:nvPr/>
        </p:nvGraphicFramePr>
        <p:xfrm>
          <a:off x="7410450" y="2114550"/>
          <a:ext cx="3000000" cy="3000000"/>
        </p:xfrm>
        <a:graphic>
          <a:graphicData uri="http://schemas.openxmlformats.org/drawingml/2006/table">
            <a:tbl>
              <a:tblPr>
                <a:noFill/>
                <a:tableStyleId>{E32F54AA-CAC8-429B-AED7-B94679055F58}</a:tableStyleId>
              </a:tblPr>
              <a:tblGrid>
                <a:gridCol w="1524000"/>
                <a:gridCol w="1228725"/>
                <a:gridCol w="1228725"/>
              </a:tblGrid>
              <a:tr h="614375">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Metric</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Micro</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Macro</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614375">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Precision</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38.52%</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51.53%</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614375">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Recall</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83.65%</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70.96%</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614375">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F1</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52.75%</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56.90%</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233" name="Google Shape;233;p32"/>
          <p:cNvSpPr/>
          <p:nvPr/>
        </p:nvSpPr>
        <p:spPr>
          <a:xfrm>
            <a:off x="7524750" y="4972050"/>
            <a:ext cx="40005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Arial"/>
              <a:buNone/>
            </a:pPr>
            <a:r>
              <a:rPr b="1" i="0" lang="en-US" sz="2025" u="none" cap="none" strike="noStrike">
                <a:solidFill>
                  <a:srgbClr val="303B43"/>
                </a:solidFill>
                <a:latin typeface="Arial"/>
                <a:ea typeface="Arial"/>
                <a:cs typeface="Arial"/>
                <a:sym typeface="Arial"/>
              </a:rPr>
              <a:t>Weighted F1  68.42%</a:t>
            </a:r>
            <a:endParaRPr/>
          </a:p>
        </p:txBody>
      </p:sp>
      <p:sp>
        <p:nvSpPr>
          <p:cNvPr id="234" name="Google Shape;234;p32"/>
          <p:cNvSpPr/>
          <p:nvPr/>
        </p:nvSpPr>
        <p:spPr>
          <a:xfrm>
            <a:off x="742950" y="5762625"/>
            <a:ext cx="10572750" cy="590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626B72"/>
                </a:solidFill>
                <a:latin typeface="Arial"/>
                <a:ea typeface="Arial"/>
                <a:cs typeface="Arial"/>
                <a:sym typeface="Arial"/>
              </a:rPr>
              <a:t>“All gold included” allows extra predicted rules. Exact match requires the same rule set.</a:t>
            </a:r>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626B72"/>
                </a:solidFill>
                <a:latin typeface="Arial"/>
                <a:ea typeface="Arial"/>
                <a:cs typeface="Arial"/>
                <a:sym typeface="Arial"/>
              </a:rPr>
              <a:t>Micro pools rule decisions. Macro averages scores equally across rules.</a:t>
            </a:r>
            <a:endParaRPr/>
          </a:p>
        </p:txBody>
      </p:sp>
      <p:sp>
        <p:nvSpPr>
          <p:cNvPr id="235" name="Google Shape;235;p32"/>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Synthetic Hard: Baseline Comparison</a:t>
            </a:r>
            <a:endParaRPr/>
          </a:p>
        </p:txBody>
      </p:sp>
      <p:sp>
        <p:nvSpPr>
          <p:cNvPr id="242" name="Google Shape;242;p33"/>
          <p:cNvSpPr/>
          <p:nvPr/>
        </p:nvSpPr>
        <p:spPr>
          <a:xfrm>
            <a:off x="742950" y="1133475"/>
            <a:ext cx="105727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Model performance on the same task and evaluation set</a:t>
            </a:r>
            <a:endParaRPr/>
          </a:p>
        </p:txBody>
      </p:sp>
      <p:graphicFrame>
        <p:nvGraphicFramePr>
          <p:cNvPr id="243" name="Google Shape;243;p33"/>
          <p:cNvGraphicFramePr/>
          <p:nvPr/>
        </p:nvGraphicFramePr>
        <p:xfrm>
          <a:off x="723900" y="2228850"/>
          <a:ext cx="3000000" cy="3000000"/>
        </p:xfrm>
        <a:graphic>
          <a:graphicData uri="http://schemas.openxmlformats.org/drawingml/2006/table">
            <a:tbl>
              <a:tblPr>
                <a:noFill/>
                <a:tableStyleId>{E32F54AA-CAC8-429B-AED7-B94679055F58}</a:tableStyleId>
              </a:tblPr>
              <a:tblGrid>
                <a:gridCol w="3143250"/>
                <a:gridCol w="1905000"/>
                <a:gridCol w="1905000"/>
                <a:gridCol w="1905000"/>
                <a:gridCol w="1905000"/>
              </a:tblGrid>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Baseline</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Exact match</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Micro F1</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Macro F1</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Weighted 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DeepSeek V4 Flash</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0.78%</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50.33%</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52.71%</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63.11%</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ChatGPT 5.5</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0.97%</a:t>
                      </a:r>
                      <a:endParaRPr/>
                    </a:p>
                  </a:txBody>
                  <a:tcPr marT="45725" marB="45725" marR="91450" marL="91450">
                    <a:solidFill>
                      <a:srgbClr val="F5F5F5"/>
                    </a:solidFill>
                  </a:tcPr>
                </a:tc>
                <a:tc>
                  <a:txBody>
                    <a:bodyPr/>
                    <a:lstStyle/>
                    <a:p>
                      <a:pPr indent="0" lvl="0" marL="0" rtl="0" algn="l">
                        <a:spcBef>
                          <a:spcPts val="0"/>
                        </a:spcBef>
                        <a:spcAft>
                          <a:spcPts val="0"/>
                        </a:spcAft>
                        <a:buClr>
                          <a:srgbClr val="000000"/>
                        </a:buClr>
                        <a:buSzPts val="1800"/>
                        <a:buFont typeface="Arial"/>
                        <a:buNone/>
                      </a:pPr>
                      <a:r>
                        <a:rPr lang="en-US" sz="1800">
                          <a:solidFill>
                            <a:srgbClr val="303B43"/>
                          </a:solidFill>
                        </a:rPr>
                        <a:t>52.75%</a:t>
                      </a:r>
                      <a:endParaRPr/>
                    </a:p>
                  </a:txBody>
                  <a:tcPr marT="45725" marB="45725" marR="91450" marL="91450">
                    <a:solidFill>
                      <a:srgbClr val="F5F5F5"/>
                    </a:solidFill>
                  </a:tcPr>
                </a:tc>
                <a:tc>
                  <a:txBody>
                    <a:bodyPr/>
                    <a:lstStyle/>
                    <a:p>
                      <a:pPr indent="0" lvl="0" marL="0" rtl="0" algn="l">
                        <a:spcBef>
                          <a:spcPts val="0"/>
                        </a:spcBef>
                        <a:spcAft>
                          <a:spcPts val="0"/>
                        </a:spcAft>
                        <a:buClr>
                          <a:srgbClr val="000000"/>
                        </a:buClr>
                        <a:buSzPts val="1800"/>
                        <a:buFont typeface="Arial"/>
                        <a:buNone/>
                      </a:pPr>
                      <a:r>
                        <a:rPr lang="en-US" sz="1800">
                          <a:solidFill>
                            <a:srgbClr val="303B43"/>
                          </a:solidFill>
                        </a:rPr>
                        <a:t>56.90%</a:t>
                      </a:r>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303B43"/>
                        </a:solidFill>
                      </a:endParaRPr>
                    </a:p>
                  </a:txBody>
                  <a:tcPr marT="45725" marB="45725" marR="91450" marL="91450">
                    <a:solidFill>
                      <a:srgbClr val="F5F5F5"/>
                    </a:solidFill>
                  </a:tcPr>
                </a:tc>
                <a:tc>
                  <a:txBody>
                    <a:bodyPr/>
                    <a:lstStyle/>
                    <a:p>
                      <a:pPr indent="0" lvl="0" marL="0" rtl="0" algn="l">
                        <a:spcBef>
                          <a:spcPts val="0"/>
                        </a:spcBef>
                        <a:spcAft>
                          <a:spcPts val="0"/>
                        </a:spcAft>
                        <a:buClr>
                          <a:srgbClr val="000000"/>
                        </a:buClr>
                        <a:buSzPts val="1800"/>
                        <a:buFont typeface="Arial"/>
                        <a:buNone/>
                      </a:pPr>
                      <a:r>
                        <a:rPr lang="en-US" sz="1800">
                          <a:solidFill>
                            <a:srgbClr val="303B43"/>
                          </a:solidFill>
                        </a:rPr>
                        <a:t>68.42%</a:t>
                      </a:r>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303B43"/>
                        </a:solidFill>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Qwen 8B</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0.31%</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40.12%</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41.33%</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49.87%</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244" name="Google Shape;244;p33"/>
          <p:cNvSpPr/>
          <p:nvPr/>
        </p:nvSpPr>
        <p:spPr>
          <a:xfrm>
            <a:off x="742950" y="5572125"/>
            <a:ext cx="106680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626B72"/>
                </a:solidFill>
                <a:latin typeface="Arial"/>
                <a:ea typeface="Arial"/>
                <a:cs typeface="Arial"/>
                <a:sym typeface="Arial"/>
              </a:rPr>
              <a:t>Exact match is accuracy over complete label sets. All values are percentages.</a:t>
            </a:r>
            <a:endParaRPr/>
          </a:p>
        </p:txBody>
      </p:sp>
      <p:sp>
        <p:nvSpPr>
          <p:cNvPr id="245" name="Google Shape;245;p33"/>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Real World Simple Task Performance</a:t>
            </a:r>
            <a:endParaRPr/>
          </a:p>
        </p:txBody>
      </p:sp>
      <p:sp>
        <p:nvSpPr>
          <p:cNvPr id="252" name="Google Shape;252;p34"/>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Financial statements and notes, with one specified rule, form a binary decision</a:t>
            </a:r>
            <a:endParaRPr/>
          </a:p>
        </p:txBody>
      </p:sp>
      <p:sp>
        <p:nvSpPr>
          <p:cNvPr id="253" name="Google Shape;253;p34"/>
          <p:cNvSpPr/>
          <p:nvPr/>
        </p:nvSpPr>
        <p:spPr>
          <a:xfrm>
            <a:off x="742950" y="1905000"/>
            <a:ext cx="4191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rgbClr val="A32638"/>
                </a:solidFill>
                <a:latin typeface="Arial"/>
                <a:ea typeface="Arial"/>
                <a:cs typeface="Arial"/>
                <a:sym typeface="Arial"/>
              </a:rPr>
              <a:t>67.39%</a:t>
            </a:r>
            <a:endParaRPr/>
          </a:p>
        </p:txBody>
      </p:sp>
      <p:sp>
        <p:nvSpPr>
          <p:cNvPr id="254" name="Google Shape;254;p34"/>
          <p:cNvSpPr/>
          <p:nvPr/>
        </p:nvSpPr>
        <p:spPr>
          <a:xfrm>
            <a:off x="742950" y="2762250"/>
            <a:ext cx="41910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03B43"/>
                </a:solidFill>
                <a:latin typeface="Arial"/>
                <a:ea typeface="Arial"/>
                <a:cs typeface="Arial"/>
                <a:sym typeface="Arial"/>
              </a:rPr>
              <a:t>Accuracy</a:t>
            </a:r>
            <a:endParaRPr/>
          </a:p>
        </p:txBody>
      </p:sp>
      <p:sp>
        <p:nvSpPr>
          <p:cNvPr id="255" name="Google Shape;255;p34"/>
          <p:cNvSpPr/>
          <p:nvPr/>
        </p:nvSpPr>
        <p:spPr>
          <a:xfrm>
            <a:off x="742950" y="3476625"/>
            <a:ext cx="43815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75"/>
              <a:buFont typeface="Arial"/>
              <a:buNone/>
            </a:pPr>
            <a:r>
              <a:rPr b="1" i="0" lang="en-US" sz="2175" u="none" cap="none" strike="noStrike">
                <a:solidFill>
                  <a:srgbClr val="303B43"/>
                </a:solidFill>
                <a:latin typeface="Arial"/>
                <a:ea typeface="Arial"/>
                <a:cs typeface="Arial"/>
                <a:sym typeface="Arial"/>
              </a:rPr>
              <a:t>1,554 samples</a:t>
            </a:r>
            <a:endParaRPr/>
          </a:p>
        </p:txBody>
      </p:sp>
      <p:sp>
        <p:nvSpPr>
          <p:cNvPr id="256" name="Google Shape;256;p34"/>
          <p:cNvSpPr/>
          <p:nvPr/>
        </p:nvSpPr>
        <p:spPr>
          <a:xfrm>
            <a:off x="742950" y="4000500"/>
            <a:ext cx="4572000"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75"/>
              <a:buFont typeface="Arial"/>
              <a:buNone/>
            </a:pPr>
            <a:r>
              <a:rPr b="0" i="0" lang="en-US" sz="1875" u="none" cap="none" strike="noStrike">
                <a:solidFill>
                  <a:srgbClr val="303B43"/>
                </a:solidFill>
                <a:latin typeface="Arial"/>
                <a:ea typeface="Arial"/>
                <a:cs typeface="Arial"/>
                <a:sym typeface="Arial"/>
              </a:rPr>
              <a:t>805 violation / 749 no violation</a:t>
            </a:r>
            <a:endParaRPr/>
          </a:p>
        </p:txBody>
      </p:sp>
      <p:sp>
        <p:nvSpPr>
          <p:cNvPr id="257" name="Google Shape;257;p34"/>
          <p:cNvSpPr/>
          <p:nvPr/>
        </p:nvSpPr>
        <p:spPr>
          <a:xfrm>
            <a:off x="742950" y="4848225"/>
            <a:ext cx="4286250" cy="714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A32638"/>
                </a:solidFill>
                <a:latin typeface="Arial"/>
                <a:ea typeface="Arial"/>
                <a:cs typeface="Arial"/>
                <a:sym typeface="Arial"/>
              </a:rPr>
              <a:t>Missed violations dominate errors</a:t>
            </a:r>
            <a:endParaRPr/>
          </a:p>
        </p:txBody>
      </p:sp>
      <p:graphicFrame>
        <p:nvGraphicFramePr>
          <p:cNvPr id="258" name="Google Shape;258;p34"/>
          <p:cNvGraphicFramePr/>
          <p:nvPr/>
        </p:nvGraphicFramePr>
        <p:xfrm>
          <a:off x="5476875" y="2076450"/>
          <a:ext cx="3000000" cy="3000000"/>
        </p:xfrm>
        <a:graphic>
          <a:graphicData uri="http://schemas.openxmlformats.org/drawingml/2006/table">
            <a:tbl>
              <a:tblPr>
                <a:noFill/>
                <a:tableStyleId>{E32F54AA-CAC8-429B-AED7-B94679055F58}</a:tableStyleId>
              </a:tblPr>
              <a:tblGrid>
                <a:gridCol w="1905000"/>
                <a:gridCol w="1333500"/>
                <a:gridCol w="1333500"/>
                <a:gridCol w="1333500"/>
              </a:tblGrid>
              <a:tr h="647700">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Class</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Precision</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Recall</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1" lang="en-US" sz="1725" u="none" cap="none" strike="noStrike">
                          <a:solidFill>
                            <a:srgbClr val="FFFFFF"/>
                          </a:solidFill>
                          <a:latin typeface="Arial"/>
                          <a:ea typeface="Arial"/>
                          <a:cs typeface="Arial"/>
                          <a:sym typeface="Arial"/>
                        </a:rPr>
                        <a:t>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64770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Violation</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81.65%</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46.45%</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59.22%</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647700">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No violation</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61.58%</a:t>
                      </a:r>
                      <a:endParaRPr/>
                    </a:p>
                  </a:txBody>
                  <a:tcPr marT="45725" marB="45725" marR="91450" marL="91450">
                    <a:lnB cap="flat" cmpd="sng" w="9525">
                      <a:solidFill>
                        <a:srgbClr val="DEDADD"/>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89.15%</a:t>
                      </a:r>
                      <a:endParaRPr/>
                    </a:p>
                  </a:txBody>
                  <a:tcPr marT="45725" marB="45725" marR="91450" marL="91450">
                    <a:lnB cap="flat" cmpd="sng" w="9525">
                      <a:solidFill>
                        <a:srgbClr val="DEDADD"/>
                      </a:solidFill>
                      <a:prstDash val="solid"/>
                      <a:round/>
                      <a:headEnd len="sm" w="sm" type="none"/>
                      <a:tailEnd len="sm" w="sm" type="none"/>
                    </a:lnB>
                    <a:solidFill>
                      <a:srgbClr val="F5F5F5"/>
                    </a:solidFill>
                  </a:tcPr>
                </a:tc>
                <a:tc>
                  <a:txBody>
                    <a:bodyPr/>
                    <a:lstStyle/>
                    <a:p>
                      <a:pPr indent="0" lvl="0" marL="0" marR="0" rtl="0" algn="l">
                        <a:lnSpc>
                          <a:spcPct val="100000"/>
                        </a:lnSpc>
                        <a:spcBef>
                          <a:spcPts val="0"/>
                        </a:spcBef>
                        <a:spcAft>
                          <a:spcPts val="0"/>
                        </a:spcAft>
                        <a:buClr>
                          <a:srgbClr val="000000"/>
                        </a:buClr>
                        <a:buSzPts val="1725"/>
                        <a:buFont typeface="Arial"/>
                        <a:buNone/>
                      </a:pPr>
                      <a:r>
                        <a:rPr b="0" lang="en-US" sz="1725" u="none" cap="none" strike="noStrike">
                          <a:solidFill>
                            <a:srgbClr val="303B43"/>
                          </a:solidFill>
                          <a:latin typeface="Arial"/>
                          <a:ea typeface="Arial"/>
                          <a:cs typeface="Arial"/>
                          <a:sym typeface="Arial"/>
                        </a:rPr>
                        <a:t>72.84%</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5F5F5"/>
                    </a:solidFill>
                  </a:tcPr>
                </a:tc>
              </a:tr>
            </a:tbl>
          </a:graphicData>
        </a:graphic>
      </p:graphicFrame>
      <p:sp>
        <p:nvSpPr>
          <p:cNvPr id="259" name="Google Shape;259;p34"/>
          <p:cNvSpPr/>
          <p:nvPr/>
        </p:nvSpPr>
        <p:spPr>
          <a:xfrm>
            <a:off x="5619750" y="4524375"/>
            <a:ext cx="5715000" cy="1000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Arial"/>
              <a:buNone/>
            </a:pPr>
            <a:r>
              <a:rPr b="0" i="0" lang="en-US" sz="2025" u="none" cap="none" strike="noStrike">
                <a:solidFill>
                  <a:srgbClr val="303B43"/>
                </a:solidFill>
                <a:latin typeface="Arial"/>
                <a:ea typeface="Arial"/>
                <a:cs typeface="Arial"/>
                <a:sym typeface="Arial"/>
              </a:rPr>
              <a:t>46.45% violation recall</a:t>
            </a:r>
            <a:endParaRPr/>
          </a:p>
          <a:p>
            <a:pPr indent="0" lvl="0" marL="0" marR="0" rtl="0" algn="l">
              <a:lnSpc>
                <a:spcPct val="100000"/>
              </a:lnSpc>
              <a:spcBef>
                <a:spcPts val="0"/>
              </a:spcBef>
              <a:spcAft>
                <a:spcPts val="0"/>
              </a:spcAft>
              <a:buClr>
                <a:srgbClr val="000000"/>
              </a:buClr>
              <a:buSzPts val="2025"/>
              <a:buFont typeface="Arial"/>
              <a:buNone/>
            </a:pPr>
            <a:r>
              <a:rPr b="0" i="0" lang="en-US" sz="2025" u="none" cap="none" strike="noStrike">
                <a:solidFill>
                  <a:srgbClr val="303B43"/>
                </a:solidFill>
                <a:latin typeface="Arial"/>
                <a:ea typeface="Arial"/>
                <a:cs typeface="Arial"/>
                <a:sym typeface="Arial"/>
              </a:rPr>
              <a:t>More than half of violations are missed.</a:t>
            </a:r>
            <a:endParaRPr/>
          </a:p>
        </p:txBody>
      </p:sp>
      <p:sp>
        <p:nvSpPr>
          <p:cNvPr id="260" name="Google Shape;260;p34"/>
          <p:cNvSpPr/>
          <p:nvPr/>
        </p:nvSpPr>
        <p:spPr>
          <a:xfrm>
            <a:off x="742950" y="5962650"/>
            <a:ext cx="105727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626B72"/>
                </a:solidFill>
                <a:latin typeface="Arial"/>
                <a:ea typeface="Arial"/>
                <a:cs typeface="Arial"/>
                <a:sym typeface="Arial"/>
              </a:rPr>
              <a:t>Historical benchmark cohort: 1,554 samples. The current released dataset has 1,197 samples.</a:t>
            </a:r>
            <a:endParaRPr/>
          </a:p>
        </p:txBody>
      </p:sp>
      <p:sp>
        <p:nvSpPr>
          <p:cNvPr id="261" name="Google Shape;261;p34"/>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Real World Simple: Baseline Comparison</a:t>
            </a:r>
            <a:endParaRPr/>
          </a:p>
        </p:txBody>
      </p:sp>
      <p:sp>
        <p:nvSpPr>
          <p:cNvPr id="268" name="Google Shape;268;p35"/>
          <p:cNvSpPr/>
          <p:nvPr/>
        </p:nvSpPr>
        <p:spPr>
          <a:xfrm>
            <a:off x="742950" y="1133475"/>
            <a:ext cx="105727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Model performance on the same task and evaluation set</a:t>
            </a:r>
            <a:endParaRPr/>
          </a:p>
        </p:txBody>
      </p:sp>
      <p:graphicFrame>
        <p:nvGraphicFramePr>
          <p:cNvPr id="269" name="Google Shape;269;p35"/>
          <p:cNvGraphicFramePr/>
          <p:nvPr/>
        </p:nvGraphicFramePr>
        <p:xfrm>
          <a:off x="723900" y="2228850"/>
          <a:ext cx="3000000" cy="3000000"/>
        </p:xfrm>
        <a:graphic>
          <a:graphicData uri="http://schemas.openxmlformats.org/drawingml/2006/table">
            <a:tbl>
              <a:tblPr>
                <a:noFill/>
                <a:tableStyleId>{E32F54AA-CAC8-429B-AED7-B94679055F58}</a:tableStyleId>
              </a:tblPr>
              <a:tblGrid>
                <a:gridCol w="3143250"/>
                <a:gridCol w="1905000"/>
                <a:gridCol w="1905000"/>
                <a:gridCol w="1905000"/>
                <a:gridCol w="1905000"/>
              </a:tblGrid>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Baseline</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Accuracy</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Precision</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Recall</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DeepSeek V4 Flash</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67.39%</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75.42%</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61.38%</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64.57%</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ChatGPT 5.5</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65.32%</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73.35%</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59.71%</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65.28%</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Qwen 8B</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47.51%</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52.19%</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45.21%</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50.17%</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270" name="Google Shape;270;p35"/>
          <p:cNvSpPr/>
          <p:nvPr/>
        </p:nvSpPr>
        <p:spPr>
          <a:xfrm>
            <a:off x="742950" y="5572125"/>
            <a:ext cx="106680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626B72"/>
                </a:solidFill>
                <a:latin typeface="Arial"/>
                <a:ea typeface="Arial"/>
                <a:cs typeface="Arial"/>
                <a:sym typeface="Arial"/>
              </a:rPr>
              <a:t>Precision, recall and F1 use the violation class. All values are percentages.</a:t>
            </a:r>
            <a:endParaRPr/>
          </a:p>
        </p:txBody>
      </p:sp>
      <p:sp>
        <p:nvSpPr>
          <p:cNvPr id="271" name="Google Shape;271;p35"/>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Real World Hard Task Performance</a:t>
            </a:r>
            <a:endParaRPr/>
          </a:p>
        </p:txBody>
      </p:sp>
      <p:sp>
        <p:nvSpPr>
          <p:cNvPr id="278" name="Google Shape;278;p36"/>
          <p:cNvSpPr/>
          <p:nvPr/>
        </p:nvSpPr>
        <p:spPr>
          <a:xfrm>
            <a:off x="742950" y="1114425"/>
            <a:ext cx="10572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Identify all violated rules, or no violation, using statements, notes and 98 candidate rules</a:t>
            </a:r>
            <a:endParaRPr/>
          </a:p>
        </p:txBody>
      </p:sp>
      <p:sp>
        <p:nvSpPr>
          <p:cNvPr id="279" name="Google Shape;279;p36"/>
          <p:cNvSpPr/>
          <p:nvPr/>
        </p:nvSpPr>
        <p:spPr>
          <a:xfrm>
            <a:off x="742950" y="1905000"/>
            <a:ext cx="4191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5100"/>
              <a:buFont typeface="Arial"/>
              <a:buNone/>
            </a:pPr>
            <a:r>
              <a:rPr b="1" i="0" lang="en-US" sz="5100" u="none" cap="none" strike="noStrike">
                <a:solidFill>
                  <a:srgbClr val="A32638"/>
                </a:solidFill>
                <a:latin typeface="Arial"/>
                <a:ea typeface="Arial"/>
                <a:cs typeface="Arial"/>
                <a:sym typeface="Arial"/>
              </a:rPr>
              <a:t>2.13%</a:t>
            </a:r>
            <a:endParaRPr/>
          </a:p>
        </p:txBody>
      </p:sp>
      <p:sp>
        <p:nvSpPr>
          <p:cNvPr id="280" name="Google Shape;280;p36"/>
          <p:cNvSpPr/>
          <p:nvPr/>
        </p:nvSpPr>
        <p:spPr>
          <a:xfrm>
            <a:off x="742950" y="2762250"/>
            <a:ext cx="41910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03B43"/>
                </a:solidFill>
                <a:latin typeface="Arial"/>
                <a:ea typeface="Arial"/>
                <a:cs typeface="Arial"/>
                <a:sym typeface="Arial"/>
              </a:rPr>
              <a:t>Exact match</a:t>
            </a:r>
            <a:endParaRPr/>
          </a:p>
        </p:txBody>
      </p:sp>
      <p:sp>
        <p:nvSpPr>
          <p:cNvPr id="281" name="Google Shape;281;p36"/>
          <p:cNvSpPr/>
          <p:nvPr/>
        </p:nvSpPr>
        <p:spPr>
          <a:xfrm>
            <a:off x="742950" y="3467100"/>
            <a:ext cx="45720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303B43"/>
                </a:solidFill>
                <a:latin typeface="Arial"/>
                <a:ea typeface="Arial"/>
                <a:cs typeface="Arial"/>
                <a:sym typeface="Arial"/>
              </a:rPr>
              <a:t>888 samples   /   98 rules</a:t>
            </a:r>
            <a:endParaRPr/>
          </a:p>
        </p:txBody>
      </p:sp>
      <p:sp>
        <p:nvSpPr>
          <p:cNvPr id="282" name="Google Shape;282;p36"/>
          <p:cNvSpPr/>
          <p:nvPr/>
        </p:nvSpPr>
        <p:spPr>
          <a:xfrm>
            <a:off x="742950" y="4038600"/>
            <a:ext cx="4572000" cy="781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03B43"/>
                </a:solidFill>
                <a:latin typeface="Arial"/>
                <a:ea typeface="Arial"/>
                <a:cs typeface="Arial"/>
                <a:sym typeface="Arial"/>
              </a:rPr>
              <a:t>459 violation  (51.69%)</a:t>
            </a:r>
            <a:endParaRPr/>
          </a:p>
          <a:p>
            <a:pPr indent="0" lvl="0" marL="0" marR="0" rtl="0" algn="l">
              <a:lnSpc>
                <a:spcPct val="100000"/>
              </a:lnSpc>
              <a:spcBef>
                <a:spcPts val="0"/>
              </a:spcBef>
              <a:spcAft>
                <a:spcPts val="0"/>
              </a:spcAft>
              <a:buClr>
                <a:srgbClr val="000000"/>
              </a:buClr>
              <a:buSzPts val="1950"/>
              <a:buFont typeface="Arial"/>
              <a:buNone/>
            </a:pPr>
            <a:r>
              <a:rPr b="0" i="0" lang="en-US" sz="1950" u="none" cap="none" strike="noStrike">
                <a:solidFill>
                  <a:srgbClr val="303B43"/>
                </a:solidFill>
                <a:latin typeface="Arial"/>
                <a:ea typeface="Arial"/>
                <a:cs typeface="Arial"/>
                <a:sym typeface="Arial"/>
              </a:rPr>
              <a:t>429 no violation  (48.31%)</a:t>
            </a:r>
            <a:endParaRPr/>
          </a:p>
        </p:txBody>
      </p:sp>
      <p:graphicFrame>
        <p:nvGraphicFramePr>
          <p:cNvPr id="283" name="Google Shape;283;p36"/>
          <p:cNvGraphicFramePr/>
          <p:nvPr/>
        </p:nvGraphicFramePr>
        <p:xfrm>
          <a:off x="5476875" y="2066925"/>
          <a:ext cx="3000000" cy="3000000"/>
        </p:xfrm>
        <a:graphic>
          <a:graphicData uri="http://schemas.openxmlformats.org/drawingml/2006/table">
            <a:tbl>
              <a:tblPr>
                <a:noFill/>
                <a:tableStyleId>{E32F54AA-CAC8-429B-AED7-B94679055F58}</a:tableStyleId>
              </a:tblPr>
              <a:tblGrid>
                <a:gridCol w="2095500"/>
                <a:gridCol w="1905000"/>
                <a:gridCol w="1905000"/>
              </a:tblGrid>
              <a:tr h="619125">
                <a:tc>
                  <a:txBody>
                    <a:bodyPr/>
                    <a:lstStyle/>
                    <a:p>
                      <a:pPr indent="0" lvl="0" marL="0" marR="0" rtl="0" algn="l">
                        <a:lnSpc>
                          <a:spcPct val="100000"/>
                        </a:lnSpc>
                        <a:spcBef>
                          <a:spcPts val="0"/>
                        </a:spcBef>
                        <a:spcAft>
                          <a:spcPts val="0"/>
                        </a:spcAft>
                        <a:buClr>
                          <a:srgbClr val="000000"/>
                        </a:buClr>
                        <a:buSzPts val="1875"/>
                        <a:buFont typeface="Arial"/>
                        <a:buNone/>
                      </a:pPr>
                      <a:r>
                        <a:rPr b="1" lang="en-US" sz="1875" u="none" cap="none" strike="noStrike">
                          <a:solidFill>
                            <a:srgbClr val="FFFFFF"/>
                          </a:solidFill>
                          <a:latin typeface="Arial"/>
                          <a:ea typeface="Arial"/>
                          <a:cs typeface="Arial"/>
                          <a:sym typeface="Arial"/>
                        </a:rPr>
                        <a:t>Metric</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1" lang="en-US" sz="1875" u="none" cap="none" strike="noStrike">
                          <a:solidFill>
                            <a:srgbClr val="FFFFFF"/>
                          </a:solidFill>
                          <a:latin typeface="Arial"/>
                          <a:ea typeface="Arial"/>
                          <a:cs typeface="Arial"/>
                          <a:sym typeface="Arial"/>
                        </a:rPr>
                        <a:t>Micro</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1" lang="en-US" sz="1875" u="none" cap="none" strike="noStrike">
                          <a:solidFill>
                            <a:srgbClr val="FFFFFF"/>
                          </a:solidFill>
                          <a:latin typeface="Arial"/>
                          <a:ea typeface="Arial"/>
                          <a:cs typeface="Arial"/>
                          <a:sym typeface="Arial"/>
                        </a:rPr>
                        <a:t>Macro</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619125">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Precision</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3.66%</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5.52%</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619125">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Recall</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22.81%</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10.10%</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619125">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F1</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6.31%</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75"/>
                        <a:buFont typeface="Arial"/>
                        <a:buNone/>
                      </a:pPr>
                      <a:r>
                        <a:rPr b="0" lang="en-US" sz="1875" u="none" cap="none" strike="noStrike">
                          <a:solidFill>
                            <a:srgbClr val="303B43"/>
                          </a:solidFill>
                          <a:latin typeface="Arial"/>
                          <a:ea typeface="Arial"/>
                          <a:cs typeface="Arial"/>
                          <a:sym typeface="Arial"/>
                        </a:rPr>
                        <a:t>5.49%</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284" name="Google Shape;284;p36"/>
          <p:cNvSpPr/>
          <p:nvPr/>
        </p:nvSpPr>
        <p:spPr>
          <a:xfrm>
            <a:off x="5619750" y="4905375"/>
            <a:ext cx="5524500"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303B43"/>
                </a:solidFill>
                <a:latin typeface="Arial"/>
                <a:ea typeface="Arial"/>
                <a:cs typeface="Arial"/>
                <a:sym typeface="Arial"/>
              </a:rPr>
              <a:t>Weighted F1  15.46%</a:t>
            </a:r>
            <a:endParaRPr/>
          </a:p>
        </p:txBody>
      </p:sp>
      <p:sp>
        <p:nvSpPr>
          <p:cNvPr id="285" name="Google Shape;285;p36"/>
          <p:cNvSpPr/>
          <p:nvPr/>
        </p:nvSpPr>
        <p:spPr>
          <a:xfrm>
            <a:off x="742950" y="5534025"/>
            <a:ext cx="10477500" cy="34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Arial"/>
              <a:buNone/>
            </a:pPr>
            <a:r>
              <a:rPr b="1" i="0" lang="en-US" sz="2025" u="none" cap="none" strike="noStrike">
                <a:solidFill>
                  <a:srgbClr val="A32638"/>
                </a:solidFill>
                <a:latin typeface="Arial"/>
                <a:ea typeface="Arial"/>
                <a:cs typeface="Arial"/>
                <a:sym typeface="Arial"/>
              </a:rPr>
              <a:t>Low precision indicates many extra rule predictions.</a:t>
            </a:r>
            <a:endParaRPr/>
          </a:p>
        </p:txBody>
      </p:sp>
      <p:sp>
        <p:nvSpPr>
          <p:cNvPr id="286" name="Google Shape;286;p36"/>
          <p:cNvSpPr/>
          <p:nvPr/>
        </p:nvSpPr>
        <p:spPr>
          <a:xfrm>
            <a:off x="742950" y="5943600"/>
            <a:ext cx="10572750"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626B72"/>
                </a:solidFill>
                <a:latin typeface="Arial"/>
                <a:ea typeface="Arial"/>
                <a:cs typeface="Arial"/>
                <a:sym typeface="Arial"/>
              </a:rPr>
              <a:t>Micro pools rule decisions. Macro gives each rule equal weight.</a:t>
            </a:r>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626B72"/>
                </a:solidFill>
                <a:latin typeface="Arial"/>
                <a:ea typeface="Arial"/>
                <a:cs typeface="Arial"/>
                <a:sym typeface="Arial"/>
              </a:rPr>
              <a:t>Exact match compares complete label sets, including no violation.</a:t>
            </a:r>
            <a:endParaRPr/>
          </a:p>
        </p:txBody>
      </p:sp>
      <p:sp>
        <p:nvSpPr>
          <p:cNvPr id="287" name="Google Shape;287;p36"/>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p:nvPr/>
        </p:nvSpPr>
        <p:spPr>
          <a:xfrm>
            <a:off x="723900" y="400050"/>
            <a:ext cx="10763250"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303B43"/>
                </a:solidFill>
                <a:latin typeface="Arial"/>
                <a:ea typeface="Arial"/>
                <a:cs typeface="Arial"/>
                <a:sym typeface="Arial"/>
              </a:rPr>
              <a:t>Real World Hard: Baseline Comparison</a:t>
            </a:r>
            <a:endParaRPr/>
          </a:p>
        </p:txBody>
      </p:sp>
      <p:sp>
        <p:nvSpPr>
          <p:cNvPr id="294" name="Google Shape;294;p37"/>
          <p:cNvSpPr/>
          <p:nvPr/>
        </p:nvSpPr>
        <p:spPr>
          <a:xfrm>
            <a:off x="742950" y="1133475"/>
            <a:ext cx="105727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626B72"/>
                </a:solidFill>
                <a:latin typeface="Arial"/>
                <a:ea typeface="Arial"/>
                <a:cs typeface="Arial"/>
                <a:sym typeface="Arial"/>
              </a:rPr>
              <a:t>Model performance on the same task and evaluation set</a:t>
            </a:r>
            <a:endParaRPr/>
          </a:p>
        </p:txBody>
      </p:sp>
      <p:graphicFrame>
        <p:nvGraphicFramePr>
          <p:cNvPr id="295" name="Google Shape;295;p37"/>
          <p:cNvGraphicFramePr/>
          <p:nvPr/>
        </p:nvGraphicFramePr>
        <p:xfrm>
          <a:off x="723900" y="2228850"/>
          <a:ext cx="3000000" cy="3000000"/>
        </p:xfrm>
        <a:graphic>
          <a:graphicData uri="http://schemas.openxmlformats.org/drawingml/2006/table">
            <a:tbl>
              <a:tblPr>
                <a:noFill/>
                <a:tableStyleId>{E32F54AA-CAC8-429B-AED7-B94679055F58}</a:tableStyleId>
              </a:tblPr>
              <a:tblGrid>
                <a:gridCol w="3143250"/>
                <a:gridCol w="1905000"/>
                <a:gridCol w="1905000"/>
                <a:gridCol w="1905000"/>
                <a:gridCol w="1905000"/>
              </a:tblGrid>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Baseline</a:t>
                      </a:r>
                      <a:endParaRPr/>
                    </a:p>
                  </a:txBody>
                  <a:tcPr marT="45725" marB="45725" marR="91450" marL="91450">
                    <a:lnL cap="flat" cmpd="sng" w="9525">
                      <a:solidFill>
                        <a:srgbClr val="DEDADD"/>
                      </a:solidFill>
                      <a:prstDash val="solid"/>
                      <a:round/>
                      <a:headEnd len="sm" w="sm" type="none"/>
                      <a:tailEnd len="sm" w="sm" type="none"/>
                    </a:lnL>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Exact match</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Micro F1</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Macro F1</a:t>
                      </a:r>
                      <a:endParaRPr/>
                    </a:p>
                  </a:txBody>
                  <a:tcPr marT="45725" marB="45725" marR="91450" marL="91450">
                    <a:lnT cap="flat" cmpd="sng" w="9525">
                      <a:solidFill>
                        <a:srgbClr val="DEDADD"/>
                      </a:solidFill>
                      <a:prstDash val="solid"/>
                      <a:round/>
                      <a:headEnd len="sm" w="sm" type="none"/>
                      <a:tailEnd len="sm" w="sm" type="none"/>
                    </a:lnT>
                    <a:solidFill>
                      <a:srgbClr val="A32638"/>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FFFFFF"/>
                          </a:solidFill>
                          <a:latin typeface="Arial"/>
                          <a:ea typeface="Arial"/>
                          <a:cs typeface="Arial"/>
                          <a:sym typeface="Arial"/>
                        </a:rPr>
                        <a:t>Weighted F1</a:t>
                      </a:r>
                      <a:endParaRPr/>
                    </a:p>
                  </a:txBody>
                  <a:tcPr marT="45725" marB="45725" marR="91450" marL="91450">
                    <a:lnR cap="flat" cmpd="sng" w="9525">
                      <a:solidFill>
                        <a:srgbClr val="DEDADD"/>
                      </a:solidFill>
                      <a:prstDash val="solid"/>
                      <a:round/>
                      <a:headEnd len="sm" w="sm" type="none"/>
                      <a:tailEnd len="sm" w="sm" type="none"/>
                    </a:lnR>
                    <a:lnT cap="flat" cmpd="sng" w="9525">
                      <a:solidFill>
                        <a:srgbClr val="DEDADD"/>
                      </a:solidFill>
                      <a:prstDash val="solid"/>
                      <a:round/>
                      <a:headEnd len="sm" w="sm" type="none"/>
                      <a:tailEnd len="sm" w="sm" type="none"/>
                    </a:lnT>
                    <a:solidFill>
                      <a:srgbClr val="A32638"/>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DeepSeek V4 Flash</a:t>
                      </a:r>
                      <a:endParaRPr/>
                    </a:p>
                  </a:txBody>
                  <a:tcPr marT="45725" marB="45725" marR="91450" marL="91450">
                    <a:lnL cap="flat" cmpd="sng" w="9525">
                      <a:solidFill>
                        <a:srgbClr val="DEDADD"/>
                      </a:solidFill>
                      <a:prstDash val="solid"/>
                      <a:round/>
                      <a:headEnd len="sm" w="sm" type="none"/>
                      <a:tailEnd len="sm" w="sm" type="none"/>
                    </a:lnL>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1.88%</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5.79%</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4.99%</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13.71%</a:t>
                      </a:r>
                      <a:endParaRPr/>
                    </a:p>
                  </a:txBody>
                  <a:tcPr marT="45725" marB="45725" marR="91450" marL="91450">
                    <a:lnR cap="flat" cmpd="sng" w="9525">
                      <a:solidFill>
                        <a:srgbClr val="DEDADD"/>
                      </a:solidFill>
                      <a:prstDash val="solid"/>
                      <a:round/>
                      <a:headEnd len="sm" w="sm" type="none"/>
                      <a:tailEnd len="sm" w="sm" type="none"/>
                    </a:lnR>
                    <a:solidFill>
                      <a:srgbClr val="FFFFFF"/>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ChatGPT 5.5</a:t>
                      </a:r>
                      <a:endParaRPr/>
                    </a:p>
                  </a:txBody>
                  <a:tcPr marT="45725" marB="45725" marR="91450" marL="91450">
                    <a:lnL cap="flat" cmpd="sng" w="9525">
                      <a:solidFill>
                        <a:srgbClr val="DEDADD"/>
                      </a:solidFill>
                      <a:prstDash val="solid"/>
                      <a:round/>
                      <a:headEnd len="sm" w="sm" type="none"/>
                      <a:tailEnd len="sm" w="sm" type="none"/>
                    </a:lnL>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2.13%</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6.31%</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5.49%</a:t>
                      </a:r>
                      <a:endParaRPr/>
                    </a:p>
                  </a:txBody>
                  <a:tcPr marT="45725" marB="45725" marR="91450" marL="91450">
                    <a:solidFill>
                      <a:srgbClr val="F5F5F5"/>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15.46%</a:t>
                      </a:r>
                      <a:endParaRPr/>
                    </a:p>
                  </a:txBody>
                  <a:tcPr marT="45725" marB="45725" marR="91450" marL="91450">
                    <a:lnR cap="flat" cmpd="sng" w="9525">
                      <a:solidFill>
                        <a:srgbClr val="DEDADD"/>
                      </a:solidFill>
                      <a:prstDash val="solid"/>
                      <a:round/>
                      <a:headEnd len="sm" w="sm" type="none"/>
                      <a:tailEnd len="sm" w="sm" type="none"/>
                    </a:lnR>
                    <a:solidFill>
                      <a:srgbClr val="F5F5F5"/>
                    </a:solidFill>
                  </a:tcPr>
                </a:tc>
              </a:tr>
              <a:tr h="714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303B43"/>
                          </a:solidFill>
                          <a:latin typeface="Arial"/>
                          <a:ea typeface="Arial"/>
                          <a:cs typeface="Arial"/>
                          <a:sym typeface="Arial"/>
                        </a:rPr>
                        <a:t>Qwen 8B</a:t>
                      </a:r>
                      <a:endParaRPr/>
                    </a:p>
                  </a:txBody>
                  <a:tcPr marT="45725" marB="45725" marR="91450" marL="91450">
                    <a:lnL cap="flat" cmpd="sng" w="9525">
                      <a:solidFill>
                        <a:srgbClr val="DEDADD"/>
                      </a:solidFill>
                      <a:prstDash val="solid"/>
                      <a:round/>
                      <a:headEnd len="sm" w="sm" type="none"/>
                      <a:tailEnd len="sm" w="sm" type="none"/>
                    </a:lnL>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0.32%</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3.22%</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2.64%</a:t>
                      </a:r>
                      <a:endParaRPr/>
                    </a:p>
                  </a:txBody>
                  <a:tcPr marT="45725" marB="45725" marR="91450" marL="91450">
                    <a:lnB cap="flat" cmpd="sng" w="9525">
                      <a:solidFill>
                        <a:srgbClr val="DEDAD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303B43"/>
                          </a:solidFill>
                        </a:rPr>
                        <a:t>10.37%</a:t>
                      </a:r>
                      <a:endParaRPr/>
                    </a:p>
                  </a:txBody>
                  <a:tcPr marT="45725" marB="45725" marR="91450" marL="91450">
                    <a:lnR cap="flat" cmpd="sng" w="9525">
                      <a:solidFill>
                        <a:srgbClr val="DEDADD"/>
                      </a:solidFill>
                      <a:prstDash val="solid"/>
                      <a:round/>
                      <a:headEnd len="sm" w="sm" type="none"/>
                      <a:tailEnd len="sm" w="sm" type="none"/>
                    </a:lnR>
                    <a:lnB cap="flat" cmpd="sng" w="9525">
                      <a:solidFill>
                        <a:srgbClr val="DEDADD"/>
                      </a:solidFill>
                      <a:prstDash val="solid"/>
                      <a:round/>
                      <a:headEnd len="sm" w="sm" type="none"/>
                      <a:tailEnd len="sm" w="sm" type="none"/>
                    </a:lnB>
                    <a:solidFill>
                      <a:srgbClr val="FFFFFF"/>
                    </a:solidFill>
                  </a:tcPr>
                </a:tc>
              </a:tr>
            </a:tbl>
          </a:graphicData>
        </a:graphic>
      </p:graphicFrame>
      <p:sp>
        <p:nvSpPr>
          <p:cNvPr id="296" name="Google Shape;296;p37"/>
          <p:cNvSpPr/>
          <p:nvPr/>
        </p:nvSpPr>
        <p:spPr>
          <a:xfrm>
            <a:off x="742950" y="5572125"/>
            <a:ext cx="106680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626B72"/>
                </a:solidFill>
                <a:latin typeface="Arial"/>
                <a:ea typeface="Arial"/>
                <a:cs typeface="Arial"/>
                <a:sym typeface="Arial"/>
              </a:rPr>
              <a:t>Exact match is accuracy over complete label sets. All values are percentages.</a:t>
            </a:r>
            <a:endParaRPr/>
          </a:p>
        </p:txBody>
      </p:sp>
      <p:sp>
        <p:nvSpPr>
          <p:cNvPr id="297" name="Google Shape;297;p37"/>
          <p:cNvSpPr/>
          <p:nvPr/>
        </p:nvSpPr>
        <p:spPr>
          <a:xfrm>
            <a:off x="11477625" y="6419850"/>
            <a:ext cx="428625"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A32638"/>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